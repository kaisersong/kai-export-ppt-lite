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761695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9FF"/>
            </a:gs>
            <a:gs pos="100000">
              <a:srgbClr val="E0F2FE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33322" y="2097058"/>
            <a:ext cx="1522306" cy="169333"/>
          </a:xfrm>
          <a:prstGeom prst="roundRect">
            <a:avLst>
              <a:gd name="adj" fmla="val 50000"/>
            </a:avLst>
          </a:prstGeom>
          <a:solidFill>
            <a:srgbClr val="DBEAFD"/>
          </a:solidFill>
          <a:ln w="9525">
            <a:solidFill>
              <a:srgbClr val="2563EB"/>
            </a:solidFill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3322" y="2097058"/>
            <a:ext cx="1522306" cy="169333"/>
          </a:xfrm>
          <a:prstGeom prst="rect">
            <a:avLst/>
          </a:prstGeom>
          <a:noFill/>
        </p:spPr>
        <p:txBody>
          <a:bodyPr wrap="square" lIns="118533" rIns="118533" tIns="33866" bIns="33866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kai-slide-creator v2.12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60876" y="2435725"/>
            <a:ext cx="4267200" cy="1341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5400" b="1">
                <a:latin typeface="Microsoft YaHei"/>
                <a:ea typeface="Microsoft YaHei"/>
                <a:cs typeface="Microsoft YaHei"/>
              </a:rPr>
              <a:t>AI 驱动的</a:t>
            </a:r>
          </a:p>
          <a:p>
            <a:pPr algn="ctr">
              <a:lnSpc>
                <a:spcPct val="110000"/>
              </a:lnSpc>
            </a:pPr>
            <a:r>
              <a:rPr sz="5400" b="1">
                <a:latin typeface="Microsoft YaHei"/>
                <a:ea typeface="Microsoft YaHei"/>
                <a:cs typeface="Microsoft YaHei"/>
              </a:rPr>
              <a:t>HTML 演示文稿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48684" y="3895378"/>
            <a:ext cx="4291584" cy="4768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132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       从提示词到精美演示，秒速完成。</a:t>
            </a:r>
          </a:p>
          <a:p>
            <a:pPr algn="ctr">
              <a:lnSpc>
                <a:spcPct val="160000"/>
              </a:lnSpc>
            </a:pPr>
            <a:r>
              <a:rPr sz="132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零依赖。浏览器原生。无限编辑。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9558" y="4609288"/>
            <a:ext cx="915077" cy="910605"/>
          </a:xfrm>
          <a:prstGeom prst="roundRect">
            <a:avLst>
              <a:gd name="adj" fmla="val 11157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81225" y="4744754"/>
            <a:ext cx="508677" cy="3792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00000"/>
              </a:lnSpc>
            </a:pPr>
            <a:r>
              <a:rPr sz="3360" b="1"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06625" y="5169686"/>
            <a:ext cx="432477" cy="16902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60000"/>
              </a:lnSpc>
            </a:pPr>
            <a:r>
              <a:rPr sz="94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设计预设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03139" y="4609288"/>
            <a:ext cx="706458" cy="910605"/>
          </a:xfrm>
          <a:prstGeom prst="roundRect">
            <a:avLst>
              <a:gd name="adj" fmla="val 14381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14806" y="4744754"/>
            <a:ext cx="300058" cy="3792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00000"/>
              </a:lnSpc>
            </a:pPr>
            <a:r>
              <a:rPr sz="3360" b="1"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3451" y="5169686"/>
            <a:ext cx="302768" cy="16902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60000"/>
              </a:lnSpc>
            </a:pPr>
            <a:r>
              <a:rPr sz="94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依赖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28102" y="4609288"/>
            <a:ext cx="991290" cy="910605"/>
          </a:xfrm>
          <a:prstGeom prst="roundRect">
            <a:avLst>
              <a:gd name="adj" fmla="val 11157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2185" y="4744754"/>
            <a:ext cx="300058" cy="3792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00000"/>
              </a:lnSpc>
            </a:pPr>
            <a:r>
              <a:rPr sz="3360" b="1"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5168" y="5169686"/>
            <a:ext cx="508690" cy="16902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60000"/>
              </a:lnSpc>
            </a:pPr>
            <a:r>
              <a:rPr sz="94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HTML 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01 / 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2542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473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658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844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029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14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400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8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77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95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9FF"/>
            </a:gs>
            <a:gs pos="100000">
              <a:srgbClr val="E0F2FE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53809" y="1948558"/>
            <a:ext cx="1473200" cy="169333"/>
          </a:xfrm>
          <a:prstGeom prst="roundRect">
            <a:avLst>
              <a:gd name="adj" fmla="val 50000"/>
            </a:avLst>
          </a:prstGeom>
          <a:solidFill>
            <a:srgbClr val="DBEAFD"/>
          </a:solidFill>
          <a:ln w="9525">
            <a:solidFill>
              <a:srgbClr val="2563EB"/>
            </a:solidFill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53809" y="1948558"/>
            <a:ext cx="1473200" cy="169333"/>
          </a:xfrm>
          <a:prstGeom prst="rect">
            <a:avLst/>
          </a:prstGeom>
          <a:noFill/>
        </p:spPr>
        <p:txBody>
          <a:bodyPr wrap="none" lIns="118533" rIns="118533" tIns="33866" bIns="33866">
            <a:normAutofit/>
          </a:bodyPr>
          <a:lstStyle/>
          <a:p>
            <a:pPr>
              <a:lnSpc>
                <a:spcPct val="12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为什么选择 slide-creator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809" y="2236425"/>
            <a:ext cx="7281333" cy="42265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3120" b="1">
                <a:latin typeface="Microsoft YaHei"/>
                <a:ea typeface="Microsoft YaHei"/>
                <a:cs typeface="Microsoft YaHei"/>
              </a:rPr>
              <a:t>传统工具限制了你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53809" y="2777953"/>
            <a:ext cx="474133" cy="25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20852" y="2921886"/>
            <a:ext cx="169333" cy="2105207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54719" y="2921886"/>
            <a:ext cx="3572040" cy="2105207"/>
          </a:xfrm>
          <a:prstGeom prst="roundRect">
            <a:avLst>
              <a:gd name="adj" fmla="val 4826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1786" y="3108153"/>
            <a:ext cx="3131773" cy="26653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solidFill>
                  <a:srgbClr val="B91C1C"/>
                </a:solidFill>
                <a:latin typeface="Microsoft YaHei"/>
                <a:ea typeface="Microsoft YaHei"/>
                <a:cs typeface="Microsoft YaHei"/>
              </a:rPr>
              <a:t>❌ 传统方法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1786" y="3420405"/>
            <a:ext cx="31317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从空白幻灯片开始——结构是你的问题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1786" y="3707198"/>
            <a:ext cx="31317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花费数小时调整字体、对齐和颜色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1786" y="3993992"/>
            <a:ext cx="31317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PPTX 在其他机器上字体丢失、布局错乱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1786" y="4280786"/>
            <a:ext cx="31317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分享意味着邮件附件或上传到网盘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1786" y="4567580"/>
            <a:ext cx="31317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图表是静态图片——更新数据，重做一遍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8325" y="2921886"/>
            <a:ext cx="169333" cy="2105207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62192" y="2921886"/>
            <a:ext cx="3572040" cy="2105207"/>
          </a:xfrm>
          <a:prstGeom prst="roundRect">
            <a:avLst>
              <a:gd name="adj" fmla="val 4826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9259" y="3108153"/>
            <a:ext cx="3131773" cy="26653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solidFill>
                  <a:srgbClr val="065F46"/>
                </a:solidFill>
                <a:latin typeface="Microsoft YaHei"/>
                <a:ea typeface="Microsoft YaHei"/>
                <a:cs typeface="Microsoft YaHei"/>
              </a:rPr>
              <a:t>✓ slide-creator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9259" y="3420405"/>
            <a:ext cx="31317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描述你的主题——AI 规划结构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9259" y="3707198"/>
            <a:ext cx="31317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21 种设计预设，自动匹配内容类型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9259" y="3993992"/>
            <a:ext cx="3131773" cy="227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单个 HTML 文件，在任何地方呈现完全相同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9259" y="4280786"/>
            <a:ext cx="31317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分享 URL 或打开文件——无需账户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9259" y="4567580"/>
            <a:ext cx="31317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来自内联数据的实时图表，秒速更新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19942" y="5283126"/>
            <a:ext cx="169333" cy="385267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453809" y="5283126"/>
            <a:ext cx="7281333" cy="385267"/>
          </a:xfrm>
          <a:prstGeom prst="roundRect">
            <a:avLst>
              <a:gd name="adj" fmla="val 26371"/>
            </a:avLst>
          </a:prstGeom>
          <a:solidFill>
            <a:srgbClr val="E1EE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3809" y="5283126"/>
            <a:ext cx="7281333" cy="385267"/>
          </a:xfrm>
          <a:prstGeom prst="rect">
            <a:avLst/>
          </a:prstGeom>
          <a:noFill/>
        </p:spPr>
        <p:txBody>
          <a:bodyPr wrap="none" lIns="135466" rIns="135466" tIns="101600" bIns="101600">
            <a:normAutofit/>
          </a:bodyPr>
          <a:lstStyle/>
          <a:p>
            <a:pPr>
              <a:lnSpc>
                <a:spcPct val="160000"/>
              </a:lnSpc>
            </a:pPr>
            <a:r>
              <a:rPr sz="101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设计原则：</a:t>
            </a: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你拥有内容。AI 拥有结构和视觉表现。没有提供的数字永远不会被编造——只是 </a:t>
            </a:r>
            <a:r>
              <a:rPr sz="1010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[数据待填写]</a:t>
            </a: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占位符。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02 / 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2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561076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658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9844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029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14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400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58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77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95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9FF"/>
            </a:gs>
            <a:gs pos="100000">
              <a:srgbClr val="E0F2FE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623142" y="1550077"/>
            <a:ext cx="487680" cy="169333"/>
          </a:xfrm>
          <a:prstGeom prst="roundRect">
            <a:avLst>
              <a:gd name="adj" fmla="val 50000"/>
            </a:avLst>
          </a:prstGeom>
          <a:solidFill>
            <a:srgbClr val="DBEAFD"/>
          </a:solidFill>
          <a:ln w="9525">
            <a:solidFill>
              <a:srgbClr val="2563EB"/>
            </a:solidFill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23142" y="1550077"/>
            <a:ext cx="487680" cy="169333"/>
          </a:xfrm>
          <a:prstGeom prst="rect">
            <a:avLst/>
          </a:prstGeom>
          <a:noFill/>
        </p:spPr>
        <p:txBody>
          <a:bodyPr wrap="none" lIns="118533" rIns="118533" tIns="33866" bIns="33866">
            <a:normAutofit/>
          </a:bodyPr>
          <a:lstStyle/>
          <a:p>
            <a:pPr>
              <a:lnSpc>
                <a:spcPct val="12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23142" y="1837944"/>
            <a:ext cx="6942666" cy="42265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3120" b="1">
                <a:latin typeface="Microsoft YaHei"/>
                <a:ea typeface="Microsoft YaHei"/>
                <a:cs typeface="Microsoft YaHei"/>
              </a:rPr>
              <a:t>从想法到演示的三步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23142" y="2379472"/>
            <a:ext cx="474133" cy="25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24010" y="2523405"/>
            <a:ext cx="3411213" cy="137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114" y="2706285"/>
            <a:ext cx="157005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10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727" y="2523405"/>
            <a:ext cx="3411213" cy="26653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>描述你的主题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727" y="2835657"/>
            <a:ext cx="3411213" cy="6825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告诉 slide-creator 你想呈现什么——受众、目标、核心信息。纯中文或英文。无需特殊格式。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727" y="3563958"/>
            <a:ext cx="3411213" cy="358084"/>
          </a:xfrm>
          <a:prstGeom prst="roundRect">
            <a:avLst>
              <a:gd name="adj" fmla="val 28373"/>
            </a:avLst>
          </a:prstGeom>
          <a:solidFill>
            <a:srgbClr val="E2EBF2"/>
          </a:solidFill>
          <a:ln w="9525">
            <a:solidFill>
              <a:srgbClr val="2563EB"/>
            </a:solidFill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4440" y="3563958"/>
            <a:ext cx="3309789" cy="358084"/>
          </a:xfrm>
          <a:prstGeom prst="rect">
            <a:avLst/>
          </a:prstGeom>
          <a:noFill/>
        </p:spPr>
        <p:txBody>
          <a:bodyPr wrap="square" lIns="135466" rIns="135466" tIns="84666" bIns="84666">
            <a:spAutoFit/>
          </a:bodyPr>
          <a:lstStyle/>
          <a:p>
            <a:pPr>
              <a:lnSpc>
                <a:spcPct val="120000"/>
              </a:lnSpc>
            </a:pPr>
            <a:r>
              <a:rPr sz="1019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/slide "季度业务审查，面向领导层——重点关注增长和留存"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010" y="4178075"/>
            <a:ext cx="3411213" cy="137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114" y="4360955"/>
            <a:ext cx="157005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10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727" y="4178075"/>
            <a:ext cx="3411213" cy="26653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 xml:space="preserve">审查计划 </a:t>
            </a:r>
            <a:r>
              <a:rPr sz="144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（可选）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727" y="4490326"/>
            <a:ext cx="3411213" cy="4550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用 </a:t>
            </a:r>
            <a:r>
              <a:rPr sz="1260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--plan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先获得结构化大纲文件。编辑它，然后在准备好时运行 </a:t>
            </a:r>
            <a:r>
              <a:rPr sz="1260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--generate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。你掌控叙述。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24010" y="5201413"/>
            <a:ext cx="3411213" cy="1371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114" y="5384293"/>
            <a:ext cx="157005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106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727" y="5201413"/>
            <a:ext cx="3411213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>在浏览器中打开——完成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727" y="5384293"/>
            <a:ext cx="3411213" cy="6825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单个自包含的 HTML 文件。内置键盘导航、触摸滑动、全屏和编辑模式。无需安装，无需服务器。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03 / 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2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61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79609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9844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029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214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400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58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77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95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9FF"/>
            </a:gs>
            <a:gs pos="100000">
              <a:srgbClr val="E0F2FE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116137" y="1782082"/>
            <a:ext cx="3919086" cy="845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3120" b="1">
                <a:latin typeface="Microsoft YaHei"/>
                <a:ea typeface="Microsoft YaHei"/>
                <a:cs typeface="Microsoft YaHei"/>
              </a:rPr>
              <a:t>21 种设计预设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741590" y="1782082"/>
            <a:ext cx="3919086" cy="234298"/>
          </a:xfrm>
          <a:prstGeom prst="roundRect">
            <a:avLst>
              <a:gd name="adj" fmla="val 50000"/>
            </a:avLst>
          </a:prstGeom>
          <a:solidFill>
            <a:srgbClr val="DBEAFD"/>
          </a:solidFill>
          <a:ln w="9525">
            <a:solidFill>
              <a:srgbClr val="2563EB"/>
            </a:solidFill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10351" y="2062100"/>
            <a:ext cx="1005840" cy="234298"/>
          </a:xfrm>
          <a:prstGeom prst="rect">
            <a:avLst/>
          </a:prstGeom>
          <a:noFill/>
        </p:spPr>
        <p:txBody>
          <a:bodyPr wrap="none" lIns="118533" rIns="118533" tIns="33866" bIns="33866">
            <a:normAutofit/>
          </a:bodyPr>
          <a:lstStyle/>
          <a:p>
            <a:pPr>
              <a:lnSpc>
                <a:spcPct val="12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按内容类型自动匹配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5142" y="2883214"/>
            <a:ext cx="474133" cy="25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16137" y="3027148"/>
            <a:ext cx="1925685" cy="1373495"/>
          </a:xfrm>
          <a:prstGeom prst="roundRect">
            <a:avLst>
              <a:gd name="adj" fmla="val 7397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77004" y="3162614"/>
            <a:ext cx="329861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060" b="1">
                <a:latin typeface="Microsoft YaHei"/>
                <a:ea typeface="Microsoft YaHei"/>
                <a:cs typeface="Microsoft YaHei"/>
              </a:rPr>
              <a:t>深色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2585" y="3162614"/>
            <a:ext cx="290576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4 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77004" y="3345494"/>
            <a:ext cx="704223" cy="221811"/>
          </a:xfrm>
          <a:prstGeom prst="roundRect">
            <a:avLst>
              <a:gd name="adj" fmla="val 45804"/>
            </a:avLst>
          </a:prstGeom>
          <a:solidFill>
            <a:srgbClr val="DEE6E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7004" y="3345494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Bold Signal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7004" y="3613026"/>
            <a:ext cx="1620885" cy="137160"/>
          </a:xfrm>
          <a:prstGeom prst="roundRect">
            <a:avLst>
              <a:gd name="adj" fmla="val 50000"/>
            </a:avLst>
          </a:prstGeom>
          <a:solidFill>
            <a:srgbClr val="DEE6E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7004" y="3613026"/>
            <a:ext cx="1612418" cy="137160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Electric Studio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77004" y="3795906"/>
            <a:ext cx="1620885" cy="137160"/>
          </a:xfrm>
          <a:prstGeom prst="roundRect">
            <a:avLst>
              <a:gd name="adj" fmla="val 50000"/>
            </a:avLst>
          </a:prstGeom>
          <a:solidFill>
            <a:srgbClr val="DEE6E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77004" y="3795906"/>
            <a:ext cx="1612418" cy="137160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Creative Voltage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77004" y="3978786"/>
            <a:ext cx="876333" cy="221811"/>
          </a:xfrm>
          <a:prstGeom prst="roundRect">
            <a:avLst>
              <a:gd name="adj" fmla="val 45804"/>
            </a:avLst>
          </a:prstGeom>
          <a:solidFill>
            <a:srgbClr val="DEE6E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77004" y="3978786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Dark Botanical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7004" y="4246318"/>
            <a:ext cx="1612418" cy="15601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演讲 · 品牌 · 技术分享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26468" y="3027148"/>
            <a:ext cx="1925685" cy="1556375"/>
          </a:xfrm>
          <a:prstGeom prst="roundRect">
            <a:avLst>
              <a:gd name="adj" fmla="val 6527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7334" y="3162614"/>
            <a:ext cx="329861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060" b="1">
                <a:latin typeface="Microsoft YaHei"/>
                <a:ea typeface="Microsoft YaHei"/>
                <a:cs typeface="Microsoft YaHei"/>
              </a:rPr>
              <a:t>浅色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2916" y="3162614"/>
            <a:ext cx="290576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5 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7334" y="3345494"/>
            <a:ext cx="532113" cy="137160"/>
          </a:xfrm>
          <a:prstGeom prst="roundRect">
            <a:avLst>
              <a:gd name="adj" fmla="val 50000"/>
            </a:avLst>
          </a:prstGeom>
          <a:solidFill>
            <a:srgbClr val="D9F0FC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7334" y="3345494"/>
            <a:ext cx="1612418" cy="137160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0C4A6E"/>
                </a:solidFill>
                <a:latin typeface="Microsoft YaHei"/>
                <a:ea typeface="Microsoft YaHei"/>
                <a:cs typeface="Microsoft YaHei"/>
              </a:rPr>
              <a:t xml:space="preserve">Blue Sky </a:t>
            </a:r>
            <a:r>
              <a:rPr sz="919" b="1">
                <a:solidFill>
                  <a:srgbClr val="065F46"/>
                </a:solidFill>
                <a:latin typeface="Microsoft YaHei"/>
                <a:ea typeface="Microsoft YaHei"/>
                <a:cs typeface="Microsoft YaHei"/>
              </a:rPr>
              <a:t>当前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7334" y="3528374"/>
            <a:ext cx="818963" cy="221811"/>
          </a:xfrm>
          <a:prstGeom prst="roundRect">
            <a:avLst>
              <a:gd name="adj" fmla="val 45804"/>
            </a:avLst>
          </a:prstGeom>
          <a:solidFill>
            <a:srgbClr val="D9F0FC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87334" y="3528374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0C4A6E"/>
                </a:solidFill>
                <a:latin typeface="Microsoft YaHei"/>
                <a:ea typeface="Microsoft YaHei"/>
                <a:cs typeface="Microsoft YaHei"/>
              </a:rPr>
              <a:t>Notebook Tabs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7334" y="3795906"/>
            <a:ext cx="1620885" cy="137160"/>
          </a:xfrm>
          <a:prstGeom prst="roundRect">
            <a:avLst>
              <a:gd name="adj" fmla="val 50000"/>
            </a:avLst>
          </a:prstGeom>
          <a:solidFill>
            <a:srgbClr val="D9F0FC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7334" y="3795906"/>
            <a:ext cx="1612418" cy="137160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0C4A6E"/>
                </a:solidFill>
                <a:latin typeface="Microsoft YaHei"/>
                <a:ea typeface="Microsoft YaHei"/>
                <a:cs typeface="Microsoft YaHei"/>
              </a:rPr>
              <a:t>Pastel Geometry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87334" y="3978786"/>
            <a:ext cx="761593" cy="221811"/>
          </a:xfrm>
          <a:prstGeom prst="roundRect">
            <a:avLst>
              <a:gd name="adj" fmla="val 45804"/>
            </a:avLst>
          </a:prstGeom>
          <a:solidFill>
            <a:srgbClr val="D9F0FC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87334" y="3978786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0C4A6E"/>
                </a:solidFill>
                <a:latin typeface="Microsoft YaHei"/>
                <a:ea typeface="Microsoft YaHei"/>
                <a:cs typeface="Microsoft YaHei"/>
              </a:rPr>
              <a:t>Split Pastel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7334" y="4246318"/>
            <a:ext cx="1620885" cy="137160"/>
          </a:xfrm>
          <a:prstGeom prst="roundRect">
            <a:avLst>
              <a:gd name="adj" fmla="val 50000"/>
            </a:avLst>
          </a:prstGeom>
          <a:solidFill>
            <a:srgbClr val="D9F0FC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87334" y="4246318"/>
            <a:ext cx="1612418" cy="137160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0C4A6E"/>
                </a:solidFill>
                <a:latin typeface="Microsoft YaHei"/>
                <a:ea typeface="Microsoft YaHei"/>
                <a:cs typeface="Microsoft YaHei"/>
              </a:rPr>
              <a:t>Vintage Editorial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7334" y="4429198"/>
            <a:ext cx="1612418" cy="15601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教育 · 内部 · 创意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24661" y="3027148"/>
            <a:ext cx="1925685" cy="1458147"/>
          </a:xfrm>
          <a:prstGeom prst="roundRect">
            <a:avLst>
              <a:gd name="adj" fmla="val 6967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85528" y="3162614"/>
            <a:ext cx="329861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060" b="1">
                <a:latin typeface="Microsoft YaHei"/>
                <a:ea typeface="Microsoft YaHei"/>
                <a:cs typeface="Microsoft YaHei"/>
              </a:rPr>
              <a:t>专业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3246" y="3162614"/>
            <a:ext cx="290576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4 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85528" y="3345494"/>
            <a:ext cx="646853" cy="137160"/>
          </a:xfrm>
          <a:prstGeom prst="roundRect">
            <a:avLst>
              <a:gd name="adj" fmla="val 50000"/>
            </a:avLst>
          </a:prstGeom>
          <a:solidFill>
            <a:srgbClr val="E5E9FE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5528" y="3345494"/>
            <a:ext cx="1612418" cy="137160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4C1D95"/>
                </a:solidFill>
                <a:latin typeface="Microsoft YaHei"/>
                <a:ea typeface="Microsoft YaHei"/>
                <a:cs typeface="Microsoft YaHei"/>
              </a:rPr>
              <a:t>Neon Cyber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85528" y="3528374"/>
            <a:ext cx="876333" cy="221811"/>
          </a:xfrm>
          <a:prstGeom prst="roundRect">
            <a:avLst>
              <a:gd name="adj" fmla="val 45804"/>
            </a:avLst>
          </a:prstGeom>
          <a:solidFill>
            <a:srgbClr val="E5E9FE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85528" y="3528374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4C1D95"/>
                </a:solidFill>
                <a:latin typeface="Microsoft YaHei"/>
                <a:ea typeface="Microsoft YaHei"/>
                <a:cs typeface="Microsoft YaHei"/>
              </a:rPr>
              <a:t>Terminal Green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5528" y="3795906"/>
            <a:ext cx="761593" cy="221811"/>
          </a:xfrm>
          <a:prstGeom prst="roundRect">
            <a:avLst>
              <a:gd name="adj" fmla="val 45804"/>
            </a:avLst>
          </a:prstGeom>
          <a:solidFill>
            <a:srgbClr val="E5E9FE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85528" y="3795906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4C1D95"/>
                </a:solidFill>
                <a:latin typeface="Microsoft YaHei"/>
                <a:ea typeface="Microsoft YaHei"/>
                <a:cs typeface="Microsoft YaHei"/>
              </a:rPr>
              <a:t>Swiss Modern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97665" y="4063438"/>
            <a:ext cx="704223" cy="221811"/>
          </a:xfrm>
          <a:prstGeom prst="roundRect">
            <a:avLst>
              <a:gd name="adj" fmla="val 45804"/>
            </a:avLst>
          </a:prstGeom>
          <a:solidFill>
            <a:srgbClr val="E5E9FE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97665" y="4063438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4C1D95"/>
                </a:solidFill>
                <a:latin typeface="Microsoft YaHei"/>
                <a:ea typeface="Microsoft YaHei"/>
                <a:cs typeface="Microsoft YaHei"/>
              </a:rPr>
              <a:t>Paper &amp; Ink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7665" y="4330970"/>
            <a:ext cx="1612418" cy="15601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开发 · 学术 · 极简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47129" y="3027148"/>
            <a:ext cx="1925685" cy="2157232"/>
          </a:xfrm>
          <a:prstGeom prst="roundRect">
            <a:avLst>
              <a:gd name="adj" fmla="val 5276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7996" y="3162614"/>
            <a:ext cx="495015" cy="19545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060" b="1">
                <a:latin typeface="Microsoft YaHei"/>
                <a:ea typeface="Microsoft YaHei"/>
                <a:cs typeface="Microsoft YaHei"/>
              </a:rPr>
              <a:t>v1.5 新增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48731" y="3162614"/>
            <a:ext cx="290576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8 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07996" y="3403791"/>
            <a:ext cx="704223" cy="221811"/>
          </a:xfrm>
          <a:prstGeom prst="roundRect">
            <a:avLst>
              <a:gd name="adj" fmla="val 45804"/>
            </a:avLst>
          </a:prstGeom>
          <a:solidFill>
            <a:srgbClr val="DFED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07996" y="3403791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Aurora Mesh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07996" y="3671323"/>
            <a:ext cx="1620885" cy="137160"/>
          </a:xfrm>
          <a:prstGeom prst="roundRect">
            <a:avLst>
              <a:gd name="adj" fmla="val 50000"/>
            </a:avLst>
          </a:prstGeom>
          <a:solidFill>
            <a:srgbClr val="DFED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7996" y="3671323"/>
            <a:ext cx="1612418" cy="137160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Enterprise Dark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07996" y="3854203"/>
            <a:ext cx="818963" cy="221811"/>
          </a:xfrm>
          <a:prstGeom prst="roundRect">
            <a:avLst>
              <a:gd name="adj" fmla="val 45804"/>
            </a:avLst>
          </a:prstGeom>
          <a:solidFill>
            <a:srgbClr val="DFED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07996" y="3854203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Glassmorphism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307996" y="4121735"/>
            <a:ext cx="818963" cy="221811"/>
          </a:xfrm>
          <a:prstGeom prst="roundRect">
            <a:avLst>
              <a:gd name="adj" fmla="val 45804"/>
            </a:avLst>
          </a:prstGeom>
          <a:solidFill>
            <a:srgbClr val="DFED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07996" y="4121735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Neo-Brutalism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07996" y="4389266"/>
            <a:ext cx="761593" cy="221811"/>
          </a:xfrm>
          <a:prstGeom prst="roundRect">
            <a:avLst>
              <a:gd name="adj" fmla="val 45804"/>
            </a:avLst>
          </a:prstGeom>
          <a:solidFill>
            <a:srgbClr val="DFED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07996" y="4389266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Chinese Chan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07996" y="4656798"/>
            <a:ext cx="646853" cy="137160"/>
          </a:xfrm>
          <a:prstGeom prst="roundRect">
            <a:avLst>
              <a:gd name="adj" fmla="val 50000"/>
            </a:avLst>
          </a:prstGeom>
          <a:solidFill>
            <a:srgbClr val="DFED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07996" y="4656798"/>
            <a:ext cx="1612418" cy="137160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Data Story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07996" y="4839678"/>
            <a:ext cx="1620885" cy="137160"/>
          </a:xfrm>
          <a:prstGeom prst="roundRect">
            <a:avLst>
              <a:gd name="adj" fmla="val 50000"/>
            </a:avLst>
          </a:prstGeom>
          <a:solidFill>
            <a:srgbClr val="DFED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07996" y="4839678"/>
            <a:ext cx="1612418" cy="137160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Modern Newspaper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307996" y="5022558"/>
            <a:ext cx="818963" cy="221811"/>
          </a:xfrm>
          <a:prstGeom prst="roundRect">
            <a:avLst>
              <a:gd name="adj" fmla="val 45804"/>
            </a:avLst>
          </a:prstGeom>
          <a:solidFill>
            <a:srgbClr val="DFED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07996" y="5022558"/>
            <a:ext cx="1612418" cy="221811"/>
          </a:xfrm>
          <a:prstGeom prst="rect">
            <a:avLst/>
          </a:prstGeom>
          <a:noFill/>
        </p:spPr>
        <p:txBody>
          <a:bodyPr wrap="none" lIns="84666" rIns="84666" tIns="25400" bIns="25400">
            <a:normAutofit/>
          </a:bodyPr>
          <a:lstStyle/>
          <a:p>
            <a:pPr>
              <a:lnSpc>
                <a:spcPct val="120000"/>
              </a:lnSpc>
            </a:pPr>
            <a:r>
              <a:rPr sz="919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Neo-Retro Dev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81275" y="5500402"/>
            <a:ext cx="169333" cy="334467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115142" y="5500402"/>
            <a:ext cx="7958666" cy="334467"/>
          </a:xfrm>
          <a:prstGeom prst="roundRect">
            <a:avLst>
              <a:gd name="adj" fmla="val 30376"/>
            </a:avLst>
          </a:prstGeom>
          <a:solidFill>
            <a:srgbClr val="E1EE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065342" y="5500402"/>
            <a:ext cx="8466" cy="33446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15142" y="5500402"/>
            <a:ext cx="7958666" cy="846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15142" y="5500402"/>
            <a:ext cx="7958666" cy="334467"/>
          </a:xfrm>
          <a:prstGeom prst="rect">
            <a:avLst/>
          </a:prstGeom>
          <a:noFill/>
        </p:spPr>
        <p:txBody>
          <a:bodyPr wrap="none" lIns="118533" rIns="118533" tIns="76200" bIns="76200">
            <a:normAutofit/>
          </a:bodyPr>
          <a:lstStyle/>
          <a:p>
            <a:pPr>
              <a:lnSpc>
                <a:spcPct val="160000"/>
              </a:lnSpc>
            </a:pP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       每种预设都有完整的 CSS 视觉系统——不是简单换色。内容类型路由自动推荐最佳匹配。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04 / 10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42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61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679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5798142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029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2214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400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458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577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6695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3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74902" y="2674620"/>
            <a:ext cx="1639146" cy="149013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3200" b="1">
                <a:solidFill>
                  <a:srgbClr val="DEE7F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3942" y="4029286"/>
            <a:ext cx="1761066" cy="42265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3120" b="1">
                <a:latin typeface="Microsoft YaHei"/>
                <a:ea typeface="Microsoft YaHei"/>
                <a:cs typeface="Microsoft YaHei"/>
              </a:rPr>
              <a:t>工程化能力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7409" y="4570814"/>
            <a:ext cx="474133" cy="25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93970" y="4714748"/>
            <a:ext cx="2401011" cy="227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播放、编辑、Review —— 全流程闭环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05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2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61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79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981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16676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214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400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58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77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95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9FF"/>
            </a:gs>
            <a:gs pos="100000">
              <a:srgbClr val="E0F2FE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53809" y="1623680"/>
            <a:ext cx="386080" cy="169333"/>
          </a:xfrm>
          <a:prstGeom prst="roundRect">
            <a:avLst>
              <a:gd name="adj" fmla="val 50000"/>
            </a:avLst>
          </a:prstGeom>
          <a:solidFill>
            <a:srgbClr val="DBEAFD"/>
          </a:solidFill>
          <a:ln w="9525">
            <a:solidFill>
              <a:srgbClr val="2563EB"/>
            </a:solidFill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53809" y="1623680"/>
            <a:ext cx="386080" cy="169333"/>
          </a:xfrm>
          <a:prstGeom prst="rect">
            <a:avLst/>
          </a:prstGeom>
          <a:noFill/>
        </p:spPr>
        <p:txBody>
          <a:bodyPr wrap="none" lIns="118533" rIns="118533" tIns="33866" bIns="33866">
            <a:normAutofit/>
          </a:bodyPr>
          <a:lstStyle/>
          <a:p>
            <a:pPr>
              <a:lnSpc>
                <a:spcPct val="12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809" y="1911547"/>
            <a:ext cx="7281333" cy="42265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3120" b="1">
                <a:latin typeface="Microsoft YaHei"/>
                <a:ea typeface="Microsoft YaHei"/>
                <a:cs typeface="Microsoft YaHei"/>
              </a:rPr>
              <a:t>编辑模式 —— 立即修复任何内容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53809" y="2453075"/>
            <a:ext cx="474133" cy="25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54719" y="2597008"/>
            <a:ext cx="294639" cy="16658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800" b="0">
                <a:latin typeface="Microsoft YaHei"/>
                <a:ea typeface="Microsoft YaHei"/>
                <a:cs typeface="Microsoft YaHei"/>
              </a:rPr>
              <a:t>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5079" y="2597008"/>
            <a:ext cx="1726321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>点击任何文本编辑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7121" y="2597008"/>
            <a:ext cx="1726321" cy="6825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每个标题、段落和列表项变成 </a:t>
            </a:r>
            <a:r>
              <a:rPr sz="1260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contenteditable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。无需开发者工具。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719" y="3325309"/>
            <a:ext cx="294639" cy="16658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800" b="0">
                <a:latin typeface="Microsoft YaHei"/>
                <a:ea typeface="Microsoft YaHei"/>
                <a:cs typeface="Microsoft YaHei"/>
              </a:rPr>
              <a:t>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5079" y="3325309"/>
            <a:ext cx="1726321" cy="26653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>键盘快捷键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7121" y="3325309"/>
            <a:ext cx="1726321" cy="45505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在任何位置按 E 切换编辑模式。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4719" y="3826084"/>
            <a:ext cx="294639" cy="16658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800" b="0">
                <a:latin typeface="Microsoft YaHei"/>
                <a:ea typeface="Microsoft YaHei"/>
                <a:cs typeface="Microsoft YaHei"/>
              </a:rPr>
              <a:t>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95079" y="3826084"/>
            <a:ext cx="1726321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>Ctrl+S 保存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7121" y="3826084"/>
            <a:ext cx="1726321" cy="6825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保存为网页或下载文件。备注实时同步到演讲者窗口。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9192" y="2724008"/>
            <a:ext cx="3318040" cy="914400"/>
          </a:xfrm>
          <a:prstGeom prst="roundRect">
            <a:avLst>
              <a:gd name="adj" fmla="val 11111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9192" y="3684128"/>
            <a:ext cx="581152" cy="137160"/>
          </a:xfrm>
          <a:prstGeom prst="roundRect">
            <a:avLst>
              <a:gd name="adj" fmla="val 49382"/>
            </a:avLst>
          </a:prstGeom>
          <a:solidFill>
            <a:srgbClr val="D7E7FC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9192" y="3684128"/>
            <a:ext cx="3318040" cy="137160"/>
          </a:xfrm>
          <a:prstGeom prst="rect">
            <a:avLst/>
          </a:prstGeom>
          <a:noFill/>
        </p:spPr>
        <p:txBody>
          <a:bodyPr wrap="none" lIns="67733" rIns="67733" tIns="16933" bIns="16933">
            <a:normAutofit/>
          </a:bodyPr>
          <a:lstStyle/>
          <a:p>
            <a:pPr>
              <a:lnSpc>
                <a:spcPct val="120000"/>
              </a:lnSpc>
            </a:pPr>
            <a:r>
              <a:rPr sz="7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编辑模式激活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9192" y="3867008"/>
            <a:ext cx="3318040" cy="167124"/>
          </a:xfrm>
          <a:prstGeom prst="rect">
            <a:avLst/>
          </a:prstGeom>
          <a:noFill/>
        </p:spPr>
        <p:txBody>
          <a:bodyPr wrap="none" lIns="33866" rIns="33866" tIns="16933" bIns="16933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>此标题可编辑 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9192" y="4079852"/>
            <a:ext cx="3318040" cy="228475"/>
          </a:xfrm>
          <a:prstGeom prst="rect">
            <a:avLst/>
          </a:prstGeom>
          <a:noFill/>
        </p:spPr>
        <p:txBody>
          <a:bodyPr wrap="none" lIns="50800" rIns="50800" tIns="25400" bIns="25400">
            <a:normAutofit/>
          </a:bodyPr>
          <a:lstStyle/>
          <a:p>
            <a:pPr>
              <a:lnSpc>
                <a:spcPct val="160000"/>
              </a:lnSpc>
            </a:pPr>
            <a:r>
              <a:rPr sz="98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此段落也可以。点击任何高亮元素开始输入。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9192" y="4354047"/>
            <a:ext cx="3318040" cy="488912"/>
          </a:xfrm>
          <a:prstGeom prst="rect">
            <a:avLst/>
          </a:prstGeom>
          <a:noFill/>
        </p:spPr>
        <p:txBody>
          <a:bodyPr wrap="none" lIns="50800" rIns="50800" tIns="16933" bIns="16933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列表项可编辑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9192" y="4902226"/>
            <a:ext cx="3318040" cy="261385"/>
          </a:xfrm>
          <a:prstGeom prst="rect">
            <a:avLst/>
          </a:prstGeom>
          <a:noFill/>
        </p:spPr>
        <p:txBody>
          <a:bodyPr wrap="none" lIns="50800" rIns="50800" tIns="16933" bIns="16933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统计数据、标签、标注 —— 一切都可以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5325" y="5222878"/>
            <a:ext cx="169333" cy="7703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89192" y="5222878"/>
            <a:ext cx="3842973" cy="770392"/>
          </a:xfrm>
          <a:prstGeom prst="roundRect">
            <a:avLst>
              <a:gd name="adj" fmla="val 13188"/>
            </a:avLst>
          </a:prstGeom>
          <a:solidFill>
            <a:srgbClr val="E1EE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9192" y="5222878"/>
            <a:ext cx="3318040" cy="567192"/>
          </a:xfrm>
          <a:prstGeom prst="rect">
            <a:avLst/>
          </a:prstGeom>
          <a:noFill/>
        </p:spPr>
        <p:txBody>
          <a:bodyPr wrap="square" lIns="135466" rIns="135466" tIns="101600" bIns="101600">
            <a:spAutoFit/>
          </a:bodyPr>
          <a:lstStyle/>
          <a:p>
            <a:pPr>
              <a:lnSpc>
                <a:spcPct val="160000"/>
              </a:lnSpc>
            </a:pP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           现在试试 —— 按 E 或点击右上角 </a:t>
            </a:r>
            <a:r>
              <a:rPr sz="101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✏ 编辑</a:t>
            </a: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，然后点击本页面上任何文本。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06 / 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2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561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79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981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9166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035209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400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58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77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95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9FF"/>
            </a:gs>
            <a:gs pos="100000">
              <a:srgbClr val="E0F2FE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38476" y="1962522"/>
            <a:ext cx="386080" cy="169333"/>
          </a:xfrm>
          <a:prstGeom prst="roundRect">
            <a:avLst>
              <a:gd name="adj" fmla="val 50000"/>
            </a:avLst>
          </a:prstGeom>
          <a:solidFill>
            <a:srgbClr val="DBEAFD"/>
          </a:solidFill>
          <a:ln w="9525">
            <a:solidFill>
              <a:srgbClr val="2563EB"/>
            </a:solidFill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38476" y="1962522"/>
            <a:ext cx="386080" cy="169333"/>
          </a:xfrm>
          <a:prstGeom prst="rect">
            <a:avLst/>
          </a:prstGeom>
          <a:noFill/>
        </p:spPr>
        <p:txBody>
          <a:bodyPr wrap="none" lIns="118533" rIns="118533" tIns="33866" bIns="33866">
            <a:normAutofit/>
          </a:bodyPr>
          <a:lstStyle/>
          <a:p>
            <a:pPr>
              <a:lnSpc>
                <a:spcPct val="12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38476" y="2250389"/>
            <a:ext cx="7112000" cy="42265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3120" b="1">
                <a:latin typeface="Microsoft YaHei"/>
                <a:ea typeface="Microsoft YaHei"/>
                <a:cs typeface="Microsoft YaHei"/>
              </a:rPr>
              <a:t>演示模式 —— 自由导航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8476" y="2791917"/>
            <a:ext cx="474133" cy="25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31678" y="3062850"/>
            <a:ext cx="302768" cy="13732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30000"/>
              </a:lnSpc>
            </a:pPr>
            <a:r>
              <a:rPr sz="94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导航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6364" y="3245899"/>
            <a:ext cx="3233394" cy="914400"/>
          </a:xfrm>
          <a:prstGeom prst="roundRect">
            <a:avLst>
              <a:gd name="adj" fmla="val 11111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6364" y="4206019"/>
            <a:ext cx="151535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→Space↓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1717" y="4206019"/>
            <a:ext cx="171804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下一个幻灯片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66364" y="4447421"/>
            <a:ext cx="151535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←↑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1717" y="4447421"/>
            <a:ext cx="171804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上一个幻灯片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66364" y="4688822"/>
            <a:ext cx="151535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Home / 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81717" y="4688822"/>
            <a:ext cx="171804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首/末幻灯片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66364" y="4930224"/>
            <a:ext cx="151535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F5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81717" y="4930224"/>
            <a:ext cx="171804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全屏演示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66364" y="5171626"/>
            <a:ext cx="151535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1717" y="5171626"/>
            <a:ext cx="171804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演讲者窗口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66364" y="5413027"/>
            <a:ext cx="151535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滑动 ← 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1717" y="5413027"/>
            <a:ext cx="1718042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触摸导航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2192" y="2935850"/>
            <a:ext cx="3487394" cy="13732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30000"/>
              </a:lnSpc>
            </a:pPr>
            <a:r>
              <a:rPr sz="94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演讲者窗口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2192" y="3118899"/>
            <a:ext cx="294639" cy="16658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800" b="0">
                <a:latin typeface="Microsoft YaHei"/>
                <a:ea typeface="Microsoft YaHei"/>
                <a:cs typeface="Microsoft YaHei"/>
              </a:rPr>
              <a:t>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552" y="3118899"/>
            <a:ext cx="1684009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>当前幻灯片备注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2281" y="3118899"/>
            <a:ext cx="1684009" cy="36404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按 P 在独立窗口查看演讲者备注。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2192" y="3528662"/>
            <a:ext cx="294639" cy="16658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800" b="0">
                <a:latin typeface="Microsoft YaHei"/>
                <a:ea typeface="Microsoft YaHei"/>
                <a:cs typeface="Microsoft YaHei"/>
              </a:rPr>
              <a:t>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2552" y="3528662"/>
            <a:ext cx="1684009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>计时器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2281" y="3528662"/>
            <a:ext cx="1684009" cy="36404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实时计时，帮助你掌控演讲节奏。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2192" y="3938426"/>
            <a:ext cx="294639" cy="16658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800" b="0">
                <a:latin typeface="Microsoft YaHei"/>
                <a:ea typeface="Microsoft YaHei"/>
                <a:cs typeface="Microsoft YaHei"/>
              </a:rPr>
              <a:t>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2552" y="3938426"/>
            <a:ext cx="1684009" cy="13716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1440" b="1">
                <a:latin typeface="Microsoft YaHei"/>
                <a:ea typeface="Microsoft YaHei"/>
                <a:cs typeface="Microsoft YaHei"/>
              </a:rPr>
              <a:t>CSS 缩放适配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2281" y="3938426"/>
            <a:ext cx="1684009" cy="5460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幻灯片按 1440×900 画布设计，CSS 缩放适配任意屏幕，不丢失布局精度。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07 / 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2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561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79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7981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166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0352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53742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58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77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695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9FF"/>
            </a:gs>
            <a:gs pos="100000">
              <a:srgbClr val="E0F2FE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369142" y="1950177"/>
            <a:ext cx="721360" cy="169333"/>
          </a:xfrm>
          <a:prstGeom prst="roundRect">
            <a:avLst>
              <a:gd name="adj" fmla="val 50000"/>
            </a:avLst>
          </a:prstGeom>
          <a:solidFill>
            <a:srgbClr val="DBEAFD"/>
          </a:solidFill>
          <a:ln w="9525">
            <a:solidFill>
              <a:srgbClr val="2563EB"/>
            </a:solidFill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369142" y="1950177"/>
            <a:ext cx="721360" cy="169333"/>
          </a:xfrm>
          <a:prstGeom prst="rect">
            <a:avLst/>
          </a:prstGeom>
          <a:noFill/>
        </p:spPr>
        <p:txBody>
          <a:bodyPr wrap="none" lIns="118533" rIns="118533" tIns="33866" bIns="33866">
            <a:normAutofit/>
          </a:bodyPr>
          <a:lstStyle/>
          <a:p>
            <a:pPr>
              <a:lnSpc>
                <a:spcPct val="12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v2.12 新增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69142" y="2204177"/>
            <a:ext cx="7450666" cy="42265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3120" b="1">
                <a:latin typeface="Microsoft YaHei"/>
                <a:ea typeface="Microsoft YaHei"/>
                <a:cs typeface="Microsoft YaHei"/>
              </a:rPr>
              <a:t>15 项生成前校验，零容忍违规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69142" y="2745705"/>
            <a:ext cx="474133" cy="25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70074" y="2889638"/>
            <a:ext cx="3656685" cy="2135836"/>
          </a:xfrm>
          <a:prstGeom prst="roundRect">
            <a:avLst>
              <a:gd name="adj" fmla="val 4756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81740" y="3058971"/>
            <a:ext cx="3241818" cy="2640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30000"/>
              </a:lnSpc>
            </a:pPr>
            <a:r>
              <a:rPr sz="1800" b="1">
                <a:latin typeface="Microsoft YaHei"/>
                <a:ea typeface="Microsoft YaHei"/>
                <a:cs typeface="Microsoft YaHei"/>
              </a:rPr>
              <a:t>核心 8 项</a:t>
            </a:r>
          </a:p>
        </p:txBody>
      </p:sp>
      <p:sp>
        <p:nvSpPr>
          <p:cNvPr id="8" name="Rectangle 7"/>
          <p:cNvSpPr/>
          <p:nvPr/>
        </p:nvSpPr>
        <p:spPr>
          <a:xfrm>
            <a:off x="2581740" y="3368785"/>
            <a:ext cx="1276185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内容密度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7926" y="3368785"/>
            <a:ext cx="1974099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≥ 65% 填充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1740" y="3610187"/>
            <a:ext cx="1276185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列平衡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57926" y="3610187"/>
            <a:ext cx="1974099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最短列 ≥ 60%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81740" y="3851589"/>
            <a:ext cx="1276185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标题换行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57926" y="3851589"/>
            <a:ext cx="1974099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≤ 3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81740" y="4092990"/>
            <a:ext cx="1276185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标题质量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57926" y="4092990"/>
            <a:ext cx="1974099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断言式，非通用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81740" y="4334392"/>
            <a:ext cx="1276185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布局轮换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57926" y="4334392"/>
            <a:ext cx="1974099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禁止连续 3 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81740" y="4575793"/>
            <a:ext cx="1276185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色彩律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57926" y="4575793"/>
            <a:ext cx="1974099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90/8/2 分配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2192" y="2889638"/>
            <a:ext cx="3656685" cy="2135836"/>
          </a:xfrm>
          <a:prstGeom prst="roundRect">
            <a:avLst>
              <a:gd name="adj" fmla="val 4756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859" y="3058971"/>
            <a:ext cx="3241818" cy="2640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30000"/>
              </a:lnSpc>
            </a:pPr>
            <a:r>
              <a:rPr sz="1800" b="1">
                <a:latin typeface="Microsoft YaHei"/>
                <a:ea typeface="Microsoft YaHei"/>
                <a:cs typeface="Microsoft YaHei"/>
              </a:rPr>
              <a:t>视觉硬规则（新增 7 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73859" y="3368785"/>
            <a:ext cx="1652121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U+FE0F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25980" y="3368785"/>
            <a:ext cx="1598164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零容忍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859" y="3610187"/>
            <a:ext cx="1652121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letter-spacing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25980" y="3610187"/>
            <a:ext cx="1598164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正文 ≤ 0.05em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73859" y="3851589"/>
            <a:ext cx="1652121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纯黑背景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25980" y="3851589"/>
            <a:ext cx="1598164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用 #111 替代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73859" y="4092990"/>
            <a:ext cx="1652121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bounce easing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25980" y="4092990"/>
            <a:ext cx="1598164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禁用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3859" y="4334392"/>
            <a:ext cx="1652121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嵌套卡片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5980" y="4334392"/>
            <a:ext cx="1598164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扁平化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3859" y="4575793"/>
            <a:ext cx="1652121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latin typeface="Microsoft YaHei"/>
                <a:ea typeface="Microsoft YaHei"/>
                <a:cs typeface="Microsoft YaHei"/>
              </a:rPr>
              <a:t>padding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25980" y="4575793"/>
            <a:ext cx="1598164" cy="24140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≥ 0.75rem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35275" y="5281507"/>
            <a:ext cx="169333" cy="385267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369142" y="5281507"/>
            <a:ext cx="7450666" cy="385267"/>
          </a:xfrm>
          <a:prstGeom prst="roundRect">
            <a:avLst>
              <a:gd name="adj" fmla="val 26371"/>
            </a:avLst>
          </a:prstGeom>
          <a:solidFill>
            <a:srgbClr val="E1EEFD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11342" y="5281507"/>
            <a:ext cx="8466" cy="38526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69142" y="5281507"/>
            <a:ext cx="7450666" cy="846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69142" y="5281507"/>
            <a:ext cx="7450666" cy="385267"/>
          </a:xfrm>
          <a:prstGeom prst="rect">
            <a:avLst/>
          </a:prstGeom>
          <a:noFill/>
        </p:spPr>
        <p:txBody>
          <a:bodyPr wrap="none" lIns="135466" rIns="135466" tIns="101600" bIns="101600">
            <a:normAutofit/>
          </a:bodyPr>
          <a:lstStyle/>
          <a:p>
            <a:pPr>
              <a:lnSpc>
                <a:spcPct val="160000"/>
              </a:lnSpc>
            </a:pP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       源自 </a:t>
            </a:r>
            <a:r>
              <a:rPr sz="101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Impeccable Anti-Patterns</a:t>
            </a: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（37 个视觉反模式），筛选适用于幻灯片的子集。组装 HTML 后逐条扫描、自动修复、再写入。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08 / 10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42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561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679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7981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166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352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1537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72276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577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695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9FF"/>
            </a:gs>
            <a:gs pos="100000">
              <a:srgbClr val="E0F2FE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53809" y="1823314"/>
            <a:ext cx="589279" cy="169333"/>
          </a:xfrm>
          <a:prstGeom prst="roundRect">
            <a:avLst>
              <a:gd name="adj" fmla="val 50000"/>
            </a:avLst>
          </a:prstGeom>
          <a:solidFill>
            <a:srgbClr val="DBEAFD"/>
          </a:solidFill>
          <a:ln w="9525">
            <a:solidFill>
              <a:srgbClr val="2563EB"/>
            </a:solidFill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53809" y="1823314"/>
            <a:ext cx="589279" cy="169333"/>
          </a:xfrm>
          <a:prstGeom prst="rect">
            <a:avLst/>
          </a:prstGeom>
          <a:noFill/>
        </p:spPr>
        <p:txBody>
          <a:bodyPr wrap="none" lIns="118533" rIns="118533" tIns="33866" bIns="33866">
            <a:normAutofit/>
          </a:bodyPr>
          <a:lstStyle/>
          <a:p>
            <a:pPr>
              <a:lnSpc>
                <a:spcPct val="120000"/>
              </a:lnSpc>
            </a:pPr>
            <a:r>
              <a:rPr sz="9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精修模式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809" y="2111180"/>
            <a:ext cx="7281333" cy="42265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20000"/>
              </a:lnSpc>
            </a:pPr>
            <a:r>
              <a:rPr sz="3120" b="1">
                <a:latin typeface="Microsoft YaHei"/>
                <a:ea typeface="Microsoft YaHei"/>
                <a:cs typeface="Microsoft YaHei"/>
              </a:rPr>
              <a:t>16 项 Review 检查点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53809" y="2652708"/>
            <a:ext cx="474133" cy="25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54719" y="2796642"/>
            <a:ext cx="3572040" cy="2355696"/>
          </a:xfrm>
          <a:prstGeom prst="roundRect">
            <a:avLst>
              <a:gd name="adj" fmla="val 4312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66386" y="2965975"/>
            <a:ext cx="3157173" cy="2640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30000"/>
              </a:lnSpc>
            </a:pPr>
            <a:r>
              <a:rPr sz="1800" b="1">
                <a:latin typeface="Microsoft YaHei"/>
                <a:ea typeface="Microsoft YaHei"/>
                <a:cs typeface="Microsoft YaHei"/>
              </a:rPr>
              <a:t>自动检测（6 项）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6386" y="3275789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视角翻转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——从"我/我们"到"你/你们"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6386" y="3562583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结论先行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——标题是断言，不是名词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6386" y="3849376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三概念法则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——单页新概念 ≤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6386" y="4136170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禁止连续密集页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——3+ 同布局打断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6386" y="4422964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字号底线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——正文不低于可读阈值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6386" y="4709758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眯眼测试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——明确的视觉焦点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2192" y="2796642"/>
            <a:ext cx="3572040" cy="2355696"/>
          </a:xfrm>
          <a:prstGeom prst="roundRect">
            <a:avLst>
              <a:gd name="adj" fmla="val 4312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859" y="2965975"/>
            <a:ext cx="3157173" cy="2640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30000"/>
              </a:lnSpc>
            </a:pPr>
            <a:r>
              <a:rPr sz="1800" b="1">
                <a:latin typeface="Microsoft YaHei"/>
                <a:ea typeface="Microsoft YaHei"/>
                <a:cs typeface="Microsoft YaHei"/>
              </a:rPr>
              <a:t>AI 建议（10 项）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859" y="3275789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痛点前置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——前 2 页有具体场景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859" y="3562583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量化承诺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——前 3 页有数字收益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859" y="3849376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MECE 原则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——分类不重叠不遗漏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859" y="4136170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奥卡姆剃刀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——每页服务核心目标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859" y="4422964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10 分钟注意力重置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——案例/提问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859" y="4709758"/>
            <a:ext cx="3157173" cy="22752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>
              <a:lnSpc>
                <a:spcPct val="160000"/>
              </a:lnSpc>
            </a:pPr>
            <a:r>
              <a:rPr sz="881" b="0">
                <a:solidFill>
                  <a:srgbClr val="388BFD"/>
                </a:solidFill>
                <a:latin typeface="Microsoft YaHei"/>
                <a:ea typeface="Microsoft YaHei"/>
                <a:cs typeface="Microsoft YaHei"/>
              </a:rPr>
              <a:t xml:space="preserve">▶ 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留白缓冲页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——每 5-6 页呼吸页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19942" y="5408370"/>
            <a:ext cx="169333" cy="385267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453809" y="5408370"/>
            <a:ext cx="7281333" cy="385267"/>
          </a:xfrm>
          <a:prstGeom prst="roundRect">
            <a:avLst>
              <a:gd name="adj" fmla="val 26371"/>
            </a:avLst>
          </a:prstGeom>
          <a:solidFill>
            <a:srgbClr val="F1F2E4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6676" y="5408370"/>
            <a:ext cx="8466" cy="385267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3809" y="5408370"/>
            <a:ext cx="7281333" cy="846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53809" y="5408370"/>
            <a:ext cx="7281333" cy="385267"/>
          </a:xfrm>
          <a:prstGeom prst="rect">
            <a:avLst/>
          </a:prstGeom>
          <a:noFill/>
        </p:spPr>
        <p:txBody>
          <a:bodyPr wrap="none" lIns="135466" rIns="135466" tIns="101600" bIns="101600">
            <a:normAutofit/>
          </a:bodyPr>
          <a:lstStyle/>
          <a:p>
            <a:pPr>
              <a:lnSpc>
                <a:spcPct val="160000"/>
              </a:lnSpc>
            </a:pPr>
            <a:r>
              <a:rPr sz="101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两种规划深度：自动</a:t>
            </a: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快速出稿（3-6 分钟）；</a:t>
            </a:r>
            <a:r>
              <a:rPr sz="1010" b="1">
                <a:solidFill>
                  <a:srgbClr val="92400E"/>
                </a:solidFill>
                <a:latin typeface="Microsoft YaHei"/>
                <a:ea typeface="Microsoft YaHei"/>
                <a:cs typeface="Microsoft YaHei"/>
              </a:rPr>
              <a:t>精修</a:t>
            </a:r>
            <a:r>
              <a:rPr sz="101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深度规划 + 自动 Review（8-15 分钟）。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09 / 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42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561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79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981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9166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0352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537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722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90809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695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0F9FF"/>
            </a:gs>
            <a:gs pos="100000">
              <a:srgbClr val="E0F2FE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81196" y="2503965"/>
            <a:ext cx="4226560" cy="42265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20000"/>
              </a:lnSpc>
            </a:pPr>
            <a:r>
              <a:rPr sz="3120" b="1">
                <a:latin typeface="Microsoft YaHei"/>
                <a:ea typeface="Microsoft YaHei"/>
                <a:cs typeface="Microsoft YaHei"/>
              </a:rPr>
              <a:t>演示用幻灯片，报告用滚动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046476" y="3045155"/>
            <a:ext cx="474133" cy="25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046476" y="3189088"/>
            <a:ext cx="6096000" cy="914400"/>
          </a:xfrm>
          <a:prstGeom prst="roundRect">
            <a:avLst>
              <a:gd name="adj" fmla="val 11111"/>
            </a:avLst>
          </a:prstGeom>
          <a:solidFill>
            <a:srgbClr val="FAFDFF"/>
          </a:solidFill>
          <a:ln>
            <a:noFill/>
          </a:ln>
          <a:effectLst>
            <a:outerShdw blurRad="25000" dist="8000" dir="5400000" rotWithShape="0">
              <a:srgbClr val="0000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6476" y="4222360"/>
            <a:ext cx="6096000" cy="241807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70000"/>
              </a:lnSpc>
            </a:pP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slide-creator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做逐页演示，</a:t>
            </a:r>
            <a:r>
              <a:rPr sz="1260" b="1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report-creator</a:t>
            </a:r>
            <a:r>
              <a:rPr sz="1260" b="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 xml:space="preserve"> 做长篇幅报告。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6476" y="4599635"/>
            <a:ext cx="6096000" cy="19940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>
              <a:lnSpc>
                <a:spcPct val="160000"/>
              </a:lnSpc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 xml:space="preserve">          两者互补，共享同样的设计纪律和工程标准。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6476" y="4917914"/>
            <a:ext cx="6096000" cy="195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1080" b="0">
                <a:solidFill>
                  <a:srgbClr val="1E3A8A"/>
                </a:solidFill>
                <a:latin typeface="Microsoft YaHei"/>
                <a:ea typeface="Microsoft YaHei"/>
                <a:cs typeface="Microsoft YaHei"/>
              </a:rPr>
              <a:t>clawhub install kai-slide-creator</a:t>
            </a:r>
          </a:p>
          <a:p>
            <a:pPr algn="ctr">
              <a:lnSpc>
                <a:spcPct val="160000"/>
              </a:lnSpc>
            </a:pPr>
            <a:r>
              <a:rPr sz="108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 xml:space="preserve">         · </a:t>
            </a:r>
          </a:p>
          <a:p>
            <a:pPr algn="ctr">
              <a:lnSpc>
                <a:spcPct val="160000"/>
              </a:lnSpc>
            </a:pPr>
            <a:r>
              <a:rPr sz="108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 xml:space="preserve">        </a:t>
            </a:r>
            <a:r>
              <a:rPr sz="1080" b="0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GitHub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2032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64748B"/>
                </a:solidFill>
              </a:rPr>
              <a:t>10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25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610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796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981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166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2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53742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2276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90809" y="7362952"/>
            <a:ext cx="50800" cy="5080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09342" y="7362952"/>
            <a:ext cx="237066" cy="50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