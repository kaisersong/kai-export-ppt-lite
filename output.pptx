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7616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23809" y="2142101"/>
            <a:ext cx="1358392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23809" y="2142101"/>
            <a:ext cx="1358392" cy="169333"/>
          </a:xfrm>
          <a:prstGeom prst="rect">
            <a:avLst/>
          </a:prstGeom>
          <a:noFill/>
        </p:spPr>
        <p:txBody>
          <a:bodyPr wrap="square" lIns="118533" rIns="118533" tIns="33866" bIns="33866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kai-slide-creator v2.12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876" y="2480768"/>
            <a:ext cx="4267200" cy="1341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400" b="1">
                <a:latin typeface="Microsoft YaHei"/>
                <a:ea typeface="Microsoft YaHei"/>
                <a:cs typeface="Microsoft YaHei"/>
              </a:rPr>
              <a:t>AI 驱动的</a:t>
            </a:r>
          </a:p>
          <a:p>
            <a:pPr algn="ctr">
              <a:lnSpc>
                <a:spcPct val="110000"/>
              </a:lnSpc>
            </a:pPr>
            <a:r>
              <a:rPr sz="5400" b="1">
                <a:latin typeface="Microsoft YaHei"/>
                <a:ea typeface="Microsoft YaHei"/>
                <a:cs typeface="Microsoft YaHei"/>
              </a:rPr>
              <a:t>HTML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48684" y="3940421"/>
            <a:ext cx="4291584" cy="4768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32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从提示词到精美演示，秒速完成。</a:t>
            </a:r>
          </a:p>
          <a:p>
            <a:pPr algn="ctr">
              <a:lnSpc>
                <a:spcPct val="160000"/>
              </a:lnSpc>
            </a:pPr>
            <a:r>
              <a:rPr sz="132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零依赖。浏览器原生。无限编辑。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9558" y="4654330"/>
            <a:ext cx="915077" cy="820519"/>
          </a:xfrm>
          <a:prstGeom prst="roundRect">
            <a:avLst>
              <a:gd name="adj" fmla="val 12382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81225" y="4789797"/>
            <a:ext cx="508677" cy="3792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360" b="1"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6625" y="5214729"/>
            <a:ext cx="432477" cy="1690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94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设计预设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3139" y="4654330"/>
            <a:ext cx="706458" cy="820519"/>
          </a:xfrm>
          <a:prstGeom prst="roundRect">
            <a:avLst>
              <a:gd name="adj" fmla="val 1438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4806" y="4789797"/>
            <a:ext cx="300058" cy="3792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360" b="1"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3451" y="5214729"/>
            <a:ext cx="302768" cy="1690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94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102" y="4654330"/>
            <a:ext cx="991290" cy="820519"/>
          </a:xfrm>
          <a:prstGeom prst="roundRect">
            <a:avLst>
              <a:gd name="adj" fmla="val 12382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2185" y="4789797"/>
            <a:ext cx="300058" cy="37921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3360" b="1"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5168" y="5214729"/>
            <a:ext cx="508690" cy="1690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94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HTML 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01 /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25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73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658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44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53809" y="2091645"/>
            <a:ext cx="1473200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53809" y="2091645"/>
            <a:ext cx="1473200" cy="169333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为什么选择 slide-creator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809" y="2379512"/>
            <a:ext cx="7281333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传统工具限制了你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3809" y="2921040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20852" y="3064973"/>
            <a:ext cx="169333" cy="1749607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4719" y="3064973"/>
            <a:ext cx="3572040" cy="1749607"/>
          </a:xfrm>
          <a:prstGeom prst="roundRect">
            <a:avLst>
              <a:gd name="adj" fmla="val 5807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1786" y="3251240"/>
            <a:ext cx="313177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❌ 传统方法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1786" y="3563491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从空白幻灯片开始——结构是你的问题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1786" y="3836738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花费数小时调整字体、对齐和颜色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1786" y="4109986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PPTX 在其他机器上字体丢失、布局错乱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1786" y="4383233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分享意味着邮件附件或上传到网盘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1786" y="4656480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图表是静态图片——更新数据，重做一遍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8325" y="3064973"/>
            <a:ext cx="169333" cy="1749607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2192" y="3064973"/>
            <a:ext cx="3572040" cy="1749607"/>
          </a:xfrm>
          <a:prstGeom prst="roundRect">
            <a:avLst>
              <a:gd name="adj" fmla="val 5807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9259" y="3251240"/>
            <a:ext cx="313177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✓ slide-creator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9259" y="3563491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描述你的主题——AI 规划结构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9259" y="3836738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21 种设计预设，自动匹配内容类型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9259" y="4109986"/>
            <a:ext cx="3131773" cy="2275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单个 HTML 文件，在任何地方呈现完全相同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9259" y="4383233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分享 URL 或打开文件——无需账户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9259" y="4656480"/>
            <a:ext cx="31317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来自内联数据的实时图表，秒速更新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19942" y="5140039"/>
            <a:ext cx="169333" cy="385267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53809" y="5140039"/>
            <a:ext cx="7281333" cy="385267"/>
          </a:xfrm>
          <a:prstGeom prst="roundRect">
            <a:avLst>
              <a:gd name="adj" fmla="val 26371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3809" y="5140039"/>
            <a:ext cx="7281333" cy="385267"/>
          </a:xfrm>
          <a:prstGeom prst="rect">
            <a:avLst/>
          </a:prstGeom>
          <a:noFill/>
        </p:spPr>
        <p:txBody>
          <a:bodyPr wrap="none" lIns="135466" rIns="135466" tIns="101600" bIns="101600">
            <a:normAutofit/>
          </a:bodyPr>
          <a:lstStyle/>
          <a:p>
            <a:pPr>
              <a:lnSpc>
                <a:spcPct val="160000"/>
              </a:lnSpc>
            </a:pPr>
            <a:r>
              <a:rPr sz="101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设计原则：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你拥有内容。AI 拥有结构和视觉表现。没有提供的数字永远不会被编造——只是 </a:t>
            </a:r>
            <a:r>
              <a:rPr sz="101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[数据待填写]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占位符。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02 / 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61076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658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844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23142" y="1348175"/>
            <a:ext cx="487680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23142" y="1348175"/>
            <a:ext cx="487680" cy="169333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3142" y="1636042"/>
            <a:ext cx="6942666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从想法到演示的三步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3142" y="2177570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24010" y="2321503"/>
            <a:ext cx="3411213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114" y="2504383"/>
            <a:ext cx="157005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727" y="2321503"/>
            <a:ext cx="341121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>描述你的主题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727" y="2633755"/>
            <a:ext cx="3411213" cy="6825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告诉 slide-creator 你想呈现什么——受众、目标、核心信息。纯中文或英文。无需特殊格式。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727" y="3362056"/>
            <a:ext cx="3411213" cy="358084"/>
          </a:xfrm>
          <a:prstGeom prst="roundRect">
            <a:avLst>
              <a:gd name="adj" fmla="val 28373"/>
            </a:avLst>
          </a:prstGeom>
          <a:solidFill>
            <a:srgbClr val="E2EBF2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4440" y="3765860"/>
            <a:ext cx="3309789" cy="358084"/>
          </a:xfrm>
          <a:prstGeom prst="rect">
            <a:avLst/>
          </a:prstGeom>
          <a:noFill/>
        </p:spPr>
        <p:txBody>
          <a:bodyPr wrap="square" lIns="135466" rIns="135466" tIns="84666" bIns="84666">
            <a:spAutoFit/>
          </a:bodyPr>
          <a:lstStyle/>
          <a:p>
            <a:pPr>
              <a:lnSpc>
                <a:spcPct val="120000"/>
              </a:lnSpc>
            </a:pPr>
            <a:r>
              <a:rPr sz="1019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/slide "季度业务审查，面向领导层——重点关注增长和留存"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24010" y="4379977"/>
            <a:ext cx="3411213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114" y="4562857"/>
            <a:ext cx="157005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727" y="4379977"/>
            <a:ext cx="3411213" cy="266531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 xml:space="preserve">审查计划 </a:t>
            </a:r>
            <a:r>
              <a:rPr sz="144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（可选）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727" y="4692228"/>
            <a:ext cx="3411213" cy="4550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用 </a:t>
            </a:r>
            <a:r>
              <a:rPr sz="126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--plan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先获得结构化大纲文件。编辑它，然后在准备好时运行 </a:t>
            </a:r>
            <a:r>
              <a:rPr sz="126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--generate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。你掌控叙述。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4010" y="5403315"/>
            <a:ext cx="3411213" cy="137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114" y="5586195"/>
            <a:ext cx="157005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727" y="5403315"/>
            <a:ext cx="3411213" cy="1371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>在浏览器中打开——完成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727" y="5586195"/>
            <a:ext cx="3411213" cy="6825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单个自包含的 HTML 文件。内置键盘导航、触摸滑动、全屏和编辑模式。无需安装，无需服务器。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03 /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79609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844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16137" y="1552797"/>
            <a:ext cx="3919086" cy="845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21 种设计预设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41590" y="1552797"/>
            <a:ext cx="3919086" cy="234298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0351" y="1832816"/>
            <a:ext cx="1005840" cy="234298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按内容类型自动匹配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15142" y="2653930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16137" y="2797863"/>
            <a:ext cx="1925685" cy="761471"/>
          </a:xfrm>
          <a:prstGeom prst="roundRect">
            <a:avLst>
              <a:gd name="adj" fmla="val 13342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55063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55540" y="2933330"/>
            <a:ext cx="4263813" cy="333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Bold SignalElectric StudioCreative VoltageDark Botanical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7004" y="3312215"/>
            <a:ext cx="1612418" cy="15601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演讲 · 品牌 · 技术分享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26468" y="2797863"/>
            <a:ext cx="1925685" cy="872526"/>
          </a:xfrm>
          <a:prstGeom prst="roundRect">
            <a:avLst>
              <a:gd name="adj" fmla="val 11644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55063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2495124" y="2933330"/>
            <a:ext cx="5205306" cy="44421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 xml:space="preserve">Blue Sky </a:t>
            </a:r>
            <a:r>
              <a:rPr sz="120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1200" b="0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>Notebook TabsPastel GeometrySplit PastelVintage Editorial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7334" y="3423269"/>
            <a:ext cx="1612418" cy="15601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教育 · 内部 · 创意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4661" y="2797863"/>
            <a:ext cx="1925685" cy="761471"/>
          </a:xfrm>
          <a:prstGeom prst="roundRect">
            <a:avLst>
              <a:gd name="adj" fmla="val 13342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55063"/>
            <a:ext cx="11274552" cy="27432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311481" y="2933330"/>
            <a:ext cx="3593253" cy="333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C1D95"/>
                </a:solidFill>
                <a:latin typeface="Microsoft YaHei"/>
                <a:ea typeface="Microsoft YaHei"/>
                <a:cs typeface="Microsoft YaHei"/>
              </a:rPr>
              <a:t>Neon CyberTerminal GreenSwiss ModernPaper &amp; 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528" y="3312215"/>
            <a:ext cx="1612418" cy="15601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6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开发 · 学术 · 极简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129" y="2797863"/>
            <a:ext cx="1925685" cy="920329"/>
          </a:xfrm>
          <a:prstGeom prst="roundRect">
            <a:avLst>
              <a:gd name="adj" fmla="val 11039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55063"/>
            <a:ext cx="11274552" cy="196596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235625" y="2933330"/>
            <a:ext cx="6953326" cy="666329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Aurora MeshEnterprise DarkGlassmorphismNeo-BrutalismChinese ChanData StoryModern NewspaperNeo-Retro Dev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81275" y="5477055"/>
            <a:ext cx="169333" cy="58709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15142" y="5477055"/>
            <a:ext cx="7958666" cy="587098"/>
          </a:xfrm>
          <a:prstGeom prst="roundRect">
            <a:avLst>
              <a:gd name="adj" fmla="val 17305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65342" y="5477055"/>
            <a:ext cx="8466" cy="58709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15142" y="5477055"/>
            <a:ext cx="7958666" cy="846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15142" y="5477055"/>
            <a:ext cx="7958666" cy="587098"/>
          </a:xfrm>
          <a:prstGeom prst="rect">
            <a:avLst/>
          </a:prstGeom>
          <a:noFill/>
        </p:spPr>
        <p:txBody>
          <a:bodyPr wrap="none" lIns="118533" rIns="118533" tIns="76200" bIns="76200">
            <a:normAutofit/>
          </a:bodyPr>
          <a:lstStyle/>
          <a:p>
            <a:pPr>
              <a:lnSpc>
                <a:spcPct val="160000"/>
              </a:lnSpc>
            </a:pP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每种预设都有完整的 CSS 视觉系统——不是简单换色。内容类型路由自动推荐最佳匹配。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04 / 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981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029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74902" y="2674620"/>
            <a:ext cx="1639146" cy="149013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0" b="1">
                <a:solidFill>
                  <a:srgbClr val="DEE7F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3942" y="4029286"/>
            <a:ext cx="1761066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工程化能力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7409" y="4570814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93970" y="4714748"/>
            <a:ext cx="2401011" cy="227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播放、编辑、Review —— 全流程闭环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16676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14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53809" y="1330770"/>
            <a:ext cx="386080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53809" y="1330770"/>
            <a:ext cx="386080" cy="169333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809" y="1618637"/>
            <a:ext cx="7281333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编辑模式 —— 立即修复任何内容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3809" y="2160165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61298"/>
            <a:ext cx="11274552" cy="1002621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761298"/>
            <a:ext cx="11274552" cy="904465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761298"/>
            <a:ext cx="11274552" cy="1002621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289192" y="2431098"/>
            <a:ext cx="3318040" cy="914400"/>
          </a:xfrm>
          <a:prstGeom prst="roundRect">
            <a:avLst>
              <a:gd name="adj" fmla="val 1111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8492" y="3391218"/>
            <a:ext cx="599440" cy="137160"/>
          </a:xfrm>
          <a:prstGeom prst="rect">
            <a:avLst/>
          </a:prstGeom>
          <a:noFill/>
        </p:spPr>
        <p:txBody>
          <a:bodyPr wrap="none" lIns="67733" rIns="67733" tIns="16933" bIns="16933">
            <a:normAutofit/>
          </a:bodyPr>
          <a:lstStyle/>
          <a:p>
            <a:pPr>
              <a:lnSpc>
                <a:spcPct val="120000"/>
              </a:lnSpc>
            </a:pPr>
            <a:r>
              <a:rPr sz="7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编辑模式激活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9192" y="3574098"/>
            <a:ext cx="3318040" cy="167124"/>
          </a:xfrm>
          <a:prstGeom prst="rect">
            <a:avLst/>
          </a:prstGeom>
          <a:noFill/>
        </p:spPr>
        <p:txBody>
          <a:bodyPr wrap="none" lIns="33866" rIns="33866" tIns="16933" bIns="16933">
            <a:normAutofit/>
          </a:bodyPr>
          <a:lstStyle/>
          <a:p>
            <a:pPr>
              <a:lnSpc>
                <a:spcPct val="120000"/>
              </a:lnSpc>
            </a:pPr>
            <a:r>
              <a:rPr sz="1440" b="1">
                <a:latin typeface="Microsoft YaHei"/>
                <a:ea typeface="Microsoft YaHei"/>
                <a:cs typeface="Microsoft YaHei"/>
              </a:rPr>
              <a:t>此标题可编辑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9192" y="3786943"/>
            <a:ext cx="3318040" cy="228475"/>
          </a:xfrm>
          <a:prstGeom prst="rect">
            <a:avLst/>
          </a:prstGeom>
          <a:noFill/>
        </p:spPr>
        <p:txBody>
          <a:bodyPr wrap="none" lIns="50800" rIns="50800" tIns="25400" bIns="25400">
            <a:normAutofit/>
          </a:bodyPr>
          <a:lstStyle/>
          <a:p>
            <a:pPr>
              <a:lnSpc>
                <a:spcPct val="160000"/>
              </a:lnSpc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此段落也可以。点击任何高亮元素开始输入。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9192" y="4061138"/>
            <a:ext cx="3318040" cy="488912"/>
          </a:xfrm>
          <a:prstGeom prst="rect">
            <a:avLst/>
          </a:prstGeom>
          <a:noFill/>
        </p:spPr>
        <p:txBody>
          <a:bodyPr wrap="none" lIns="50800" rIns="50800" tIns="16933" bIns="16933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列表项可编辑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9192" y="4595770"/>
            <a:ext cx="3318040" cy="261385"/>
          </a:xfrm>
          <a:prstGeom prst="rect">
            <a:avLst/>
          </a:prstGeom>
          <a:noFill/>
        </p:spPr>
        <p:txBody>
          <a:bodyPr wrap="none" lIns="50800" rIns="50800" tIns="16933" bIns="16933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统计数据、标签、标注 —— 一切都可以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325" y="4902875"/>
            <a:ext cx="169333" cy="77039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9192" y="4902875"/>
            <a:ext cx="3318040" cy="770392"/>
          </a:xfrm>
          <a:prstGeom prst="roundRect">
            <a:avLst>
              <a:gd name="adj" fmla="val 13188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0441" y="5718988"/>
            <a:ext cx="3755542" cy="567192"/>
          </a:xfrm>
          <a:prstGeom prst="rect">
            <a:avLst/>
          </a:prstGeom>
          <a:noFill/>
        </p:spPr>
        <p:txBody>
          <a:bodyPr wrap="square" lIns="135466" rIns="135466" tIns="101600" bIns="101600">
            <a:spAutoFit/>
          </a:bodyPr>
          <a:lstStyle/>
          <a:p>
            <a:pPr>
              <a:lnSpc>
                <a:spcPct val="160000"/>
              </a:lnSpc>
            </a:pP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    现在试试 —— 按 E 或点击右上角 </a:t>
            </a:r>
            <a:r>
              <a:rPr sz="101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✏ 编辑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，然后点击本页面上任何文本。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06 /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209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400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38476" y="1315127"/>
            <a:ext cx="386080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38476" y="1315127"/>
            <a:ext cx="386080" cy="169333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8476" y="1602994"/>
            <a:ext cx="7112000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演示模式 —— 自由导航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8476" y="2144522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31678" y="2415455"/>
            <a:ext cx="302768" cy="13732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94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导航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6364" y="2598504"/>
            <a:ext cx="3233394" cy="914400"/>
          </a:xfrm>
          <a:prstGeom prst="roundRect">
            <a:avLst>
              <a:gd name="adj" fmla="val 1111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39365" y="3558624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→Space↓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3755" y="3558624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下一个幻灯片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9365" y="4015824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←↑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3755" y="4015824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上一个幻灯片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9365" y="4473024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Home / 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3755" y="4473024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首/末幻灯片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9365" y="4930224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F5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3755" y="4930224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全屏演示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9365" y="5387424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3755" y="5387424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演讲者窗口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39365" y="5844624"/>
            <a:ext cx="16343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滑动 ←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3755" y="5844624"/>
            <a:ext cx="185300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触摸导航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2192" y="2288455"/>
            <a:ext cx="3487394" cy="13732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94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演讲者窗口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45655"/>
            <a:ext cx="11274552" cy="684083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" y="2745655"/>
            <a:ext cx="11274552" cy="684083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57200" y="2745655"/>
            <a:ext cx="11274552" cy="866105"/>
          </a:xfrm>
          <a:prstGeom prst="rect">
            <a:avLst/>
          </a:prstGeom>
          <a:noFill/>
        </p:spPr>
        <p:txBody>
          <a:bodyPr wrap="none" lIns="152400" rIns="152400" tIns="118533" bIns="118533">
            <a:norm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07 /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537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58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69142" y="977760"/>
            <a:ext cx="721360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69142" y="977760"/>
            <a:ext cx="721360" cy="169333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v2.12 新增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9142" y="1231760"/>
            <a:ext cx="7450666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15 项生成前校验，零容忍违规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69142" y="1773288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0074" y="1917221"/>
            <a:ext cx="3656685" cy="3525387"/>
          </a:xfrm>
          <a:prstGeom prst="roundRect">
            <a:avLst>
              <a:gd name="adj" fmla="val 288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1740" y="2086554"/>
            <a:ext cx="3241818" cy="52818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核心 8 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0074" y="2660462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内容密度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5827" y="2660462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≥ 65% 填充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0074" y="3117662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列平衡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05827" y="3117662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最短列 ≥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0074" y="3574862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标题换行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05827" y="3574862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≤ 3 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0074" y="4032062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标题质量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5827" y="4032062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断言式，非通用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0074" y="4489262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布局轮换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5827" y="4489262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禁止连续 3 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0074" y="4946462"/>
            <a:ext cx="1435753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色彩律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05827" y="4946462"/>
            <a:ext cx="2220931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90/8/2 分配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2192" y="1917221"/>
            <a:ext cx="3656685" cy="3261293"/>
          </a:xfrm>
          <a:prstGeom prst="roundRect">
            <a:avLst>
              <a:gd name="adj" fmla="val 3115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859" y="2086554"/>
            <a:ext cx="3241818" cy="2640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视觉硬规则（新增 7 项）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2192" y="2396368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U+FE0F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0887" y="2396368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零容忍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2192" y="2853568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letter-spacing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0887" y="2853568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正文 ≤ 0.05em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2192" y="3310768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纯黑背景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0887" y="3310768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 #111 替代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2192" y="3767968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bounce easing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0887" y="3767968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禁用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2192" y="4225168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嵌套卡片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0887" y="4225168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扁平化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2192" y="4682368"/>
            <a:ext cx="1858694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latin typeface="Microsoft YaHei"/>
                <a:ea typeface="Microsoft YaHei"/>
                <a:cs typeface="Microsoft YaHei"/>
              </a:rPr>
              <a:t>padding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0887" y="4682368"/>
            <a:ext cx="179799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≥ 0.75rem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5275" y="5698641"/>
            <a:ext cx="169333" cy="9405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369142" y="5698641"/>
            <a:ext cx="7450666" cy="940550"/>
          </a:xfrm>
          <a:prstGeom prst="roundRect">
            <a:avLst>
              <a:gd name="adj" fmla="val 10802"/>
            </a:avLst>
          </a:prstGeom>
          <a:solidFill>
            <a:srgbClr val="E1EEFD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11342" y="5698641"/>
            <a:ext cx="8466" cy="9405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69142" y="5698641"/>
            <a:ext cx="7450666" cy="846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9142" y="5698641"/>
            <a:ext cx="7450666" cy="940550"/>
          </a:xfrm>
          <a:prstGeom prst="rect">
            <a:avLst/>
          </a:prstGeom>
          <a:noFill/>
        </p:spPr>
        <p:txBody>
          <a:bodyPr wrap="none" lIns="135466" rIns="135466" tIns="101600" bIns="101600">
            <a:normAutofit/>
          </a:bodyPr>
          <a:lstStyle/>
          <a:p>
            <a:pPr>
              <a:lnSpc>
                <a:spcPct val="160000"/>
              </a:lnSpc>
            </a:pP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       源自 </a:t>
            </a:r>
            <a:r>
              <a:rPr sz="101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Impeccable Anti-Patterns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（37 个视觉反模式），筛选适用于幻灯片的子集。组装 HTML 后逐条扫描、自动修复、再写入。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08 / 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537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72276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77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53809" y="1805379"/>
            <a:ext cx="589279" cy="169333"/>
          </a:xfrm>
          <a:prstGeom prst="roundRect">
            <a:avLst>
              <a:gd name="adj" fmla="val 50000"/>
            </a:avLst>
          </a:prstGeom>
          <a:solidFill>
            <a:srgbClr val="DBEAFD"/>
          </a:solidFill>
          <a:ln w="9525">
            <a:solidFill>
              <a:srgbClr val="2563EB"/>
            </a:solidFill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53809" y="1805379"/>
            <a:ext cx="589279" cy="169333"/>
          </a:xfrm>
          <a:prstGeom prst="rect">
            <a:avLst/>
          </a:prstGeom>
          <a:noFill/>
        </p:spPr>
        <p:txBody>
          <a:bodyPr wrap="none" lIns="118533" rIns="118533" tIns="33866" bIns="33866">
            <a:normAutofit/>
          </a:bodyPr>
          <a:lstStyle/>
          <a:p>
            <a:pPr>
              <a:lnSpc>
                <a:spcPct val="120000"/>
              </a:lnSpc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精修模式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3809" y="2093246"/>
            <a:ext cx="7281333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16 项 Review 检查点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3809" y="2634774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54719" y="2778707"/>
            <a:ext cx="3572040" cy="1992984"/>
          </a:xfrm>
          <a:prstGeom prst="roundRect">
            <a:avLst>
              <a:gd name="adj" fmla="val 5097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6386" y="2948041"/>
            <a:ext cx="3157173" cy="2640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自动检测（6 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386" y="3257855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视角翻转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——从"我/我们"到"你/你们"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386" y="3531102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结论先行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——标题是断言，不是名词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6386" y="3804349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三概念法则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——单页新概念 ≤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6386" y="4077596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禁止连续密集页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——3+ 同布局打断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386" y="4350843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字号底线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——正文不低于可读阈值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386" y="4624090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眯眼测试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——明确的视觉焦点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2192" y="2778707"/>
            <a:ext cx="3572040" cy="1992984"/>
          </a:xfrm>
          <a:prstGeom prst="roundRect">
            <a:avLst>
              <a:gd name="adj" fmla="val 5097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859" y="2948041"/>
            <a:ext cx="3157173" cy="26409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30000"/>
              </a:lnSpc>
            </a:pPr>
            <a:r>
              <a:rPr sz="1800" b="1">
                <a:latin typeface="Microsoft YaHei"/>
                <a:ea typeface="Microsoft YaHei"/>
                <a:cs typeface="Microsoft YaHei"/>
              </a:rPr>
              <a:t>AI 建议（10 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859" y="3257855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痛点前置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——前 2 页有具体场景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859" y="3531102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量化承诺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——前 3 页有数字收益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859" y="3804349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MECE 原则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——分类不重叠不遗漏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859" y="4077596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奥卡姆剃刀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——每页服务核心目标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859" y="4350843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 分钟注意力重置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——案例/提问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859" y="4624090"/>
            <a:ext cx="3157173" cy="22752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>
              <a:lnSpc>
                <a:spcPct val="160000"/>
              </a:lnSpc>
            </a:pPr>
            <a:r>
              <a:rPr sz="881" b="0">
                <a:solidFill>
                  <a:srgbClr val="388BFD"/>
                </a:solidFill>
                <a:latin typeface="Microsoft YaHei"/>
                <a:ea typeface="Microsoft YaHei"/>
                <a:cs typeface="Microsoft YaHei"/>
              </a:rPr>
              <a:t xml:space="preserve">▶ 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留白缓冲页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——每 5-6 页呼吸页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19942" y="5107649"/>
            <a:ext cx="169333" cy="70392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53809" y="5107649"/>
            <a:ext cx="7281333" cy="703922"/>
          </a:xfrm>
          <a:prstGeom prst="roundRect">
            <a:avLst>
              <a:gd name="adj" fmla="val 14433"/>
            </a:avLst>
          </a:prstGeom>
          <a:solidFill>
            <a:srgbClr val="F1F2E4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6676" y="5107649"/>
            <a:ext cx="8466" cy="70392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3809" y="5107649"/>
            <a:ext cx="7281333" cy="846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3809" y="5107649"/>
            <a:ext cx="7281333" cy="703922"/>
          </a:xfrm>
          <a:prstGeom prst="rect">
            <a:avLst/>
          </a:prstGeom>
          <a:noFill/>
        </p:spPr>
        <p:txBody>
          <a:bodyPr wrap="none" lIns="135466" rIns="135466" tIns="101600" bIns="101600">
            <a:normAutofit/>
          </a:bodyPr>
          <a:lstStyle/>
          <a:p>
            <a:pPr>
              <a:lnSpc>
                <a:spcPct val="160000"/>
              </a:lnSpc>
            </a:pPr>
            <a:r>
              <a:rPr sz="101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两种规划深度：自动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快速出稿（3-6 分钟）；</a:t>
            </a:r>
            <a:r>
              <a:rPr sz="101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精修</a:t>
            </a:r>
            <a:r>
              <a:rPr sz="101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深度规划 + 自动 Review（8-15 分钟）。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09 / 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7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722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90809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95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9FF"/>
            </a:gs>
            <a:gs pos="100000">
              <a:srgbClr val="E0F2F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81196" y="2503965"/>
            <a:ext cx="4226560" cy="42265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3120" b="1">
                <a:latin typeface="Microsoft YaHei"/>
                <a:ea typeface="Microsoft YaHei"/>
                <a:cs typeface="Microsoft YaHei"/>
              </a:rPr>
              <a:t>演示用幻灯片，报告用滚动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46476" y="3045155"/>
            <a:ext cx="474133" cy="2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46476" y="3189088"/>
            <a:ext cx="6096000" cy="914400"/>
          </a:xfrm>
          <a:prstGeom prst="roundRect">
            <a:avLst>
              <a:gd name="adj" fmla="val 11111"/>
            </a:avLst>
          </a:prstGeom>
          <a:solidFill>
            <a:srgbClr val="FAFDFF"/>
          </a:solidFill>
          <a:ln>
            <a:noFill/>
          </a:ln>
          <a:effectLst>
            <a:outerShdw blurRad="25000" dist="8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6476" y="4222360"/>
            <a:ext cx="6096000" cy="241807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70000"/>
              </a:lnSpc>
            </a:pP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slide-creator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做逐页演示，</a:t>
            </a:r>
            <a:r>
              <a:rPr sz="126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report-creator</a:t>
            </a:r>
            <a:r>
              <a:rPr sz="126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 xml:space="preserve"> 做长篇幅报告。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6476" y="4599635"/>
            <a:ext cx="6096000" cy="19940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 xml:space="preserve">          两者互补，共享同样的设计纪律和工程标准。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6476" y="4917914"/>
            <a:ext cx="6096000" cy="19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0000"/>
              </a:lnSpc>
            </a:pPr>
            <a:r>
              <a:rPr sz="1080" b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clawhub install kai-slide-creator</a:t>
            </a:r>
          </a:p>
          <a:p>
            <a:pPr algn="ctr">
              <a:lnSpc>
                <a:spcPct val="160000"/>
              </a:lnSpc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 xml:space="preserve">         · </a:t>
            </a:r>
          </a:p>
          <a:p>
            <a:pPr algn="ctr">
              <a:lnSpc>
                <a:spcPct val="160000"/>
              </a:lnSpc>
            </a:pPr>
            <a:r>
              <a:rPr sz="108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 xml:space="preserve">        </a:t>
            </a:r>
            <a:r>
              <a:rPr sz="108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GitHub 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032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4748B"/>
                </a:solidFill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25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610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796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981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166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2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742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2276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0809" y="7362952"/>
            <a:ext cx="50800" cy="50800"/>
          </a:xfrm>
          <a:prstGeom prst="round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09342" y="7362952"/>
            <a:ext cx="237066" cy="50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