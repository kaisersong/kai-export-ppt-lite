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723809" y="457200"/>
            <a:ext cx="4741333" cy="914400"/>
          </a:xfrm>
          <a:prstGeom prst="rect">
            <a:avLst/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723809" y="1508760"/>
            <a:ext cx="3657600" cy="2743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69696"/>
                </a:solidFill>
              </a:rPr>
              <a:t>[Image]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15280" y="5577840"/>
            <a:ext cx="1358392" cy="424349"/>
          </a:xfrm>
          <a:prstGeom prst="roundRect">
            <a:avLst>
              <a:gd name="adj" fmla="val 50000"/>
            </a:avLst>
          </a:prstGeom>
          <a:solidFill>
            <a:srgbClr val="E9EFFD"/>
          </a:solidFill>
          <a:ln w="9525">
            <a:solidFill>
              <a:srgbClr val="2563EB"/>
            </a:solidFill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15280" y="5577840"/>
            <a:ext cx="1358392" cy="424349"/>
          </a:xfrm>
          <a:prstGeom prst="rect">
            <a:avLst/>
          </a:prstGeom>
          <a:noFill/>
        </p:spPr>
        <p:txBody>
          <a:bodyPr wrap="square" lIns="118533" rIns="118533" tIns="33866" bIns="33866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latin typeface="Microsoft YaHei"/>
                <a:ea typeface="Microsoft YaHei"/>
                <a:cs typeface="Microsoft YaHei"/>
              </a:rPr>
              <a:t>kai-slide-creator v2.12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23809" y="6139349"/>
            <a:ext cx="474133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latin typeface="Microsoft YaHei"/>
                <a:ea typeface="Microsoft YaHei"/>
                <a:cs typeface="Microsoft YaHei"/>
              </a:rPr>
              <a:t>AI 驱动的</a:t>
            </a:r>
          </a:p>
          <a:p>
            <a:pPr algn="ctr">
              <a:lnSpc>
                <a:spcPct val="110000"/>
              </a:lnSpc>
            </a:pPr>
            <a:r>
              <a:rPr sz="1200" b="1">
                <a:latin typeface="Microsoft YaHei"/>
                <a:ea typeface="Microsoft YaHei"/>
                <a:cs typeface="Microsoft YaHei"/>
              </a:rPr>
              <a:t>HTML 演示文稿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52336" y="6317488"/>
            <a:ext cx="128427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200" b="0">
                <a:latin typeface="Microsoft YaHei"/>
                <a:ea typeface="Microsoft YaHei"/>
                <a:cs typeface="Microsoft YaHei"/>
              </a:rPr>
              <a:t xml:space="preserve">        从提示词到精美演示，秒速完成。</a:t>
            </a:r>
          </a:p>
          <a:p>
            <a:pPr algn="ctr">
              <a:lnSpc>
                <a:spcPct val="160000"/>
              </a:lnSpc>
            </a:pPr>
            <a:r>
              <a:rPr sz="1200" b="0">
                <a:latin typeface="Microsoft YaHei"/>
                <a:ea typeface="Microsoft YaHei"/>
                <a:cs typeface="Microsoft YaHei"/>
              </a:rPr>
              <a:t>零依赖。浏览器原生。无限编辑。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18572" y="6484450"/>
            <a:ext cx="1371600" cy="1171786"/>
          </a:xfrm>
          <a:prstGeom prst="roundRect">
            <a:avLst>
              <a:gd name="adj" fmla="val 8670"/>
            </a:avLst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21772" y="6721517"/>
            <a:ext cx="965200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21772" y="7041557"/>
            <a:ext cx="965200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60000"/>
              </a:lnSpc>
            </a:pPr>
            <a:r>
              <a:rPr sz="1200" b="0">
                <a:latin typeface="Microsoft YaHei"/>
                <a:ea typeface="Microsoft YaHei"/>
                <a:cs typeface="Microsoft YaHei"/>
              </a:rPr>
              <a:t>设计预设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8676" y="6484450"/>
            <a:ext cx="1371600" cy="1171786"/>
          </a:xfrm>
          <a:prstGeom prst="roundRect">
            <a:avLst>
              <a:gd name="adj" fmla="val 8670"/>
            </a:avLst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11876" y="6721517"/>
            <a:ext cx="965200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11876" y="7041557"/>
            <a:ext cx="965200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60000"/>
              </a:lnSpc>
            </a:pPr>
            <a:r>
              <a:rPr sz="1200" b="0">
                <a:latin typeface="Microsoft YaHei"/>
                <a:ea typeface="Microsoft YaHei"/>
                <a:cs typeface="Microsoft YaHei"/>
              </a:rPr>
              <a:t>依赖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98779" y="6484450"/>
            <a:ext cx="1371600" cy="1171786"/>
          </a:xfrm>
          <a:prstGeom prst="roundRect">
            <a:avLst>
              <a:gd name="adj" fmla="val 8670"/>
            </a:avLst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01979" y="6721517"/>
            <a:ext cx="965200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979" y="7041557"/>
            <a:ext cx="965200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60000"/>
              </a:lnSpc>
            </a:pPr>
            <a:r>
              <a:rPr sz="1200" b="0">
                <a:latin typeface="Microsoft YaHei"/>
                <a:ea typeface="Microsoft YaHei"/>
                <a:cs typeface="Microsoft YaHei"/>
              </a:rPr>
              <a:t>HTML 文件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800" y="2032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01 / 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42542" y="6604000"/>
            <a:ext cx="237066" cy="50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47342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865876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84409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02942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21476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40009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58542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77076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95609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57875" y="457200"/>
            <a:ext cx="1473200" cy="914400"/>
          </a:xfrm>
          <a:prstGeom prst="rect">
            <a:avLst/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57875" y="1508760"/>
            <a:ext cx="1473200" cy="424349"/>
          </a:xfrm>
          <a:prstGeom prst="roundRect">
            <a:avLst>
              <a:gd name="adj" fmla="val 50000"/>
            </a:avLst>
          </a:prstGeom>
          <a:solidFill>
            <a:srgbClr val="E9EFFD"/>
          </a:solidFill>
          <a:ln w="9525">
            <a:solidFill>
              <a:srgbClr val="2563EB"/>
            </a:solidFill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57875" y="1508760"/>
            <a:ext cx="1473200" cy="424349"/>
          </a:xfrm>
          <a:prstGeom prst="rect">
            <a:avLst/>
          </a:prstGeom>
          <a:noFill/>
        </p:spPr>
        <p:txBody>
          <a:bodyPr wrap="none" lIns="118533" rIns="118533" tIns="33866" bIns="33866">
            <a:normAutofit/>
          </a:bodyPr>
          <a:lstStyle/>
          <a:p>
            <a:pPr>
              <a:lnSpc>
                <a:spcPct val="120000"/>
              </a:lnSpc>
            </a:pPr>
            <a:r>
              <a:rPr sz="900" b="1">
                <a:latin typeface="Microsoft YaHei"/>
                <a:ea typeface="Microsoft YaHei"/>
                <a:cs typeface="Microsoft YaHei"/>
              </a:rPr>
              <a:t>为什么选择 slide-creator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53809" y="2070269"/>
            <a:ext cx="7281333" cy="228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200" b="1">
                <a:latin typeface="Microsoft YaHei"/>
                <a:ea typeface="Microsoft YaHei"/>
                <a:cs typeface="Microsoft YaHei"/>
              </a:rPr>
              <a:t>传统工具限制了你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53809" y="2227749"/>
            <a:ext cx="7281333" cy="914400"/>
          </a:xfrm>
          <a:prstGeom prst="roundRect">
            <a:avLst>
              <a:gd name="adj" fmla="val 3703"/>
            </a:avLst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20852" y="3279309"/>
            <a:ext cx="169333" cy="300058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54719" y="3279309"/>
            <a:ext cx="3572040" cy="3000586"/>
          </a:xfrm>
          <a:prstGeom prst="roundRect">
            <a:avLst>
              <a:gd name="adj" fmla="val 3386"/>
            </a:avLst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7919" y="3516375"/>
            <a:ext cx="3165640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❌ 传统方法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7919" y="3836415"/>
            <a:ext cx="3165640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39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从空白幻灯片开始——结构是你的问题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7919" y="4156455"/>
            <a:ext cx="3165640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39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花费数小时调整字体、对齐和颜色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7919" y="4476496"/>
            <a:ext cx="3165640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39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PPTX 在其他机器上字体丢失、布局错乱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7919" y="4796535"/>
            <a:ext cx="3165640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39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分享意味着邮件附件或上传到网盘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7919" y="5116575"/>
            <a:ext cx="3165640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39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图表是静态图片——更新数据，重做一遍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8325" y="3279309"/>
            <a:ext cx="169333" cy="300058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62192" y="3279309"/>
            <a:ext cx="3572040" cy="3000586"/>
          </a:xfrm>
          <a:prstGeom prst="roundRect">
            <a:avLst>
              <a:gd name="adj" fmla="val 3386"/>
            </a:avLst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5392" y="3516375"/>
            <a:ext cx="3165640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065F46"/>
                </a:solidFill>
                <a:latin typeface="Microsoft YaHei"/>
                <a:ea typeface="Microsoft YaHei"/>
                <a:cs typeface="Microsoft YaHei"/>
              </a:rPr>
              <a:t>✓ slide-creator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5392" y="3836415"/>
            <a:ext cx="3165640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39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描述你的主题——AI 规划结构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5392" y="4156455"/>
            <a:ext cx="3165640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39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21 种设计预设，自动匹配内容类型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5392" y="4476496"/>
            <a:ext cx="3165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839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单个 HTML 文件，在任何地方呈现完全相同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5392" y="4796535"/>
            <a:ext cx="3165640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39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分享 URL 或打开文件——无需账户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5392" y="5116575"/>
            <a:ext cx="3165640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39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来自内联数据的实时图表，秒速更新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53809" y="6554216"/>
            <a:ext cx="7281333" cy="914400"/>
          </a:xfrm>
          <a:prstGeom prst="roundRect">
            <a:avLst>
              <a:gd name="adj" fmla="val 11111"/>
            </a:avLst>
          </a:prstGeom>
          <a:solidFill>
            <a:srgbClr val="EFF4FD"/>
          </a:solidFill>
          <a:ln w="9525">
            <a:solidFill>
              <a:srgbClr val="2563EB"/>
            </a:solidFill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800" y="2032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02 / 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42542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561076" y="6604000"/>
            <a:ext cx="237066" cy="50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865876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84409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02942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21476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40009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58542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77076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695609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50636" y="457200"/>
            <a:ext cx="487680" cy="914400"/>
          </a:xfrm>
          <a:prstGeom prst="rect">
            <a:avLst/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50636" y="1508760"/>
            <a:ext cx="487680" cy="424349"/>
          </a:xfrm>
          <a:prstGeom prst="roundRect">
            <a:avLst>
              <a:gd name="adj" fmla="val 50000"/>
            </a:avLst>
          </a:prstGeom>
          <a:solidFill>
            <a:srgbClr val="E9EFFD"/>
          </a:solidFill>
          <a:ln w="9525">
            <a:solidFill>
              <a:srgbClr val="2563EB"/>
            </a:solidFill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0636" y="1508760"/>
            <a:ext cx="487680" cy="424349"/>
          </a:xfrm>
          <a:prstGeom prst="rect">
            <a:avLst/>
          </a:prstGeom>
          <a:noFill/>
        </p:spPr>
        <p:txBody>
          <a:bodyPr wrap="none" lIns="118533" rIns="118533" tIns="33866" bIns="33866">
            <a:normAutofit/>
          </a:bodyPr>
          <a:lstStyle/>
          <a:p>
            <a:pPr>
              <a:lnSpc>
                <a:spcPct val="120000"/>
              </a:lnSpc>
            </a:pPr>
            <a:r>
              <a:rPr sz="900" b="1">
                <a:latin typeface="Microsoft YaHei"/>
                <a:ea typeface="Microsoft YaHei"/>
                <a:cs typeface="Microsoft YaHei"/>
              </a:rPr>
              <a:t>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23142" y="2070269"/>
            <a:ext cx="6942666" cy="228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200" b="1">
                <a:latin typeface="Microsoft YaHei"/>
                <a:ea typeface="Microsoft YaHei"/>
                <a:cs typeface="Microsoft YaHei"/>
              </a:rPr>
              <a:t>从想法到演示的三步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23142" y="2227749"/>
            <a:ext cx="6942666" cy="914400"/>
          </a:xfrm>
          <a:prstGeom prst="roundRect">
            <a:avLst>
              <a:gd name="adj" fmla="val 3703"/>
            </a:avLst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24010" y="3279309"/>
            <a:ext cx="3411213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4010" y="3599349"/>
            <a:ext cx="3411213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3727" y="3279309"/>
            <a:ext cx="3411213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200" b="1">
                <a:latin typeface="Microsoft YaHei"/>
                <a:ea typeface="Microsoft YaHei"/>
                <a:cs typeface="Microsoft YaHei"/>
              </a:rPr>
              <a:t>描述你的主题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3727" y="3599349"/>
            <a:ext cx="341121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200" b="0">
                <a:latin typeface="Microsoft YaHei"/>
                <a:ea typeface="Microsoft YaHei"/>
                <a:cs typeface="Microsoft YaHei"/>
              </a:rPr>
              <a:t>告诉 slide-creator 你想呈现什么——受众、目标、核心信息。纯中文或英文。无需特殊格式。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727" y="3919389"/>
            <a:ext cx="3411213" cy="274320"/>
          </a:xfrm>
          <a:prstGeom prst="roundRect">
            <a:avLst>
              <a:gd name="adj" fmla="val 37037"/>
            </a:avLst>
          </a:prstGeom>
          <a:solidFill>
            <a:srgbClr val="F0F1F2"/>
          </a:solidFill>
          <a:ln w="9525">
            <a:solidFill>
              <a:srgbClr val="2563EB"/>
            </a:solidFill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53727" y="4239429"/>
            <a:ext cx="3411213" cy="274320"/>
          </a:xfrm>
          <a:prstGeom prst="rect">
            <a:avLst/>
          </a:prstGeom>
          <a:noFill/>
        </p:spPr>
        <p:txBody>
          <a:bodyPr wrap="square" lIns="135466" rIns="135466" tIns="84666" bIns="84666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/slide "季度业务审查，面向领导层——重点关注增长和留存"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24010" y="4788069"/>
            <a:ext cx="3411213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4010" y="5108109"/>
            <a:ext cx="3411213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727" y="4788069"/>
            <a:ext cx="3411213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200" b="1">
                <a:latin typeface="Microsoft YaHei"/>
                <a:ea typeface="Microsoft YaHei"/>
                <a:cs typeface="Microsoft YaHei"/>
              </a:rPr>
              <a:t xml:space="preserve">审查计划 </a:t>
            </a:r>
            <a:r>
              <a:rPr sz="1200" b="1">
                <a:latin typeface="Microsoft YaHei"/>
                <a:ea typeface="Microsoft YaHei"/>
                <a:cs typeface="Microsoft YaHei"/>
              </a:rPr>
              <a:t>（可选）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3727" y="5108109"/>
            <a:ext cx="3411213" cy="30473"/>
          </a:xfrm>
          <a:prstGeom prst="roundRect">
            <a:avLst>
              <a:gd name="adj" fmla="val 50000"/>
            </a:avLst>
          </a:prstGeom>
          <a:solidFill>
            <a:srgbClr val="EDF2FD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50800" bIns="50800">
            <a:normAutofit/>
          </a:bodyPr>
          <a:lstStyle/>
          <a:p>
            <a:pPr algn="ctr"/>
            <a:r>
              <a:rPr sz="1050">
                <a:solidFill>
                  <a:srgbClr val="1E3A8A"/>
                </a:solidFill>
              </a:rPr>
              <a:t>--plan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3727" y="5184302"/>
            <a:ext cx="3411213" cy="30473"/>
          </a:xfrm>
          <a:prstGeom prst="roundRect">
            <a:avLst>
              <a:gd name="adj" fmla="val 50000"/>
            </a:avLst>
          </a:prstGeom>
          <a:solidFill>
            <a:srgbClr val="EDF2FD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50800" bIns="50800">
            <a:normAutofit/>
          </a:bodyPr>
          <a:lstStyle/>
          <a:p>
            <a:pPr algn="ctr"/>
            <a:r>
              <a:rPr sz="1050">
                <a:solidFill>
                  <a:srgbClr val="1E3A8A"/>
                </a:solidFill>
              </a:rPr>
              <a:t>--generate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727" y="5260495"/>
            <a:ext cx="341121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200" b="0">
                <a:latin typeface="Microsoft YaHei"/>
                <a:ea typeface="Microsoft YaHei"/>
                <a:cs typeface="Microsoft YaHei"/>
              </a:rPr>
              <a:t xml:space="preserve">用 </a:t>
            </a:r>
            <a:r>
              <a:rPr sz="1200" b="0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--plan</a:t>
            </a:r>
            <a:r>
              <a:rPr sz="1200" b="0">
                <a:latin typeface="Microsoft YaHei"/>
                <a:ea typeface="Microsoft YaHei"/>
                <a:cs typeface="Microsoft YaHei"/>
              </a:rPr>
              <a:t xml:space="preserve"> 先获得结构化大纲文件。编辑它，然后在准备好时运行 </a:t>
            </a:r>
            <a:r>
              <a:rPr sz="1200" b="0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--generate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。你掌控叙述。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24010" y="5809135"/>
            <a:ext cx="3411213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24010" y="6129175"/>
            <a:ext cx="3411213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727" y="5809135"/>
            <a:ext cx="3411213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200" b="1">
                <a:latin typeface="Microsoft YaHei"/>
                <a:ea typeface="Microsoft YaHei"/>
                <a:cs typeface="Microsoft YaHei"/>
              </a:rPr>
              <a:t>在浏览器中打开——完成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3727" y="6129175"/>
            <a:ext cx="341121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200" b="0">
                <a:latin typeface="Microsoft YaHei"/>
                <a:ea typeface="Microsoft YaHei"/>
                <a:cs typeface="Microsoft YaHei"/>
              </a:rPr>
              <a:t>单个自包含的 HTML 文件。内置键盘导航、触摸滑动、全屏和编辑模式。无需安装，无需服务器。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4800" y="2032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03 / 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42542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561076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79609" y="6604000"/>
            <a:ext cx="237066" cy="50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984409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02942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21476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40009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58542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77076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695609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15142" y="1138157"/>
            <a:ext cx="7958666" cy="914400"/>
          </a:xfrm>
          <a:prstGeom prst="rect">
            <a:avLst/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16137" y="2189717"/>
            <a:ext cx="3919086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200" b="1">
                <a:latin typeface="Microsoft YaHei"/>
                <a:ea typeface="Microsoft YaHei"/>
                <a:cs typeface="Microsoft YaHei"/>
              </a:rPr>
              <a:t>21 种设计预设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53727" y="2189717"/>
            <a:ext cx="3919086" cy="274320"/>
          </a:xfrm>
          <a:prstGeom prst="roundRect">
            <a:avLst>
              <a:gd name="adj" fmla="val 50000"/>
            </a:avLst>
          </a:prstGeom>
          <a:solidFill>
            <a:srgbClr val="E9EFFD"/>
          </a:solidFill>
          <a:ln w="9525">
            <a:solidFill>
              <a:srgbClr val="2563EB"/>
            </a:solidFill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53727" y="2509757"/>
            <a:ext cx="3919086" cy="274320"/>
          </a:xfrm>
          <a:prstGeom prst="rect">
            <a:avLst/>
          </a:prstGeom>
          <a:noFill/>
        </p:spPr>
        <p:txBody>
          <a:bodyPr wrap="none" lIns="118533" rIns="118533" tIns="33866" bIns="33866">
            <a:normAutofit/>
          </a:bodyPr>
          <a:lstStyle/>
          <a:p>
            <a:pPr>
              <a:lnSpc>
                <a:spcPct val="120000"/>
              </a:lnSpc>
            </a:pPr>
            <a:r>
              <a:rPr sz="900" b="1">
                <a:latin typeface="Microsoft YaHei"/>
                <a:ea typeface="Microsoft YaHei"/>
                <a:cs typeface="Microsoft YaHei"/>
              </a:rPr>
              <a:t>按内容类型自动匹配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15142" y="3058397"/>
            <a:ext cx="7958666" cy="914400"/>
          </a:xfrm>
          <a:prstGeom prst="roundRect">
            <a:avLst>
              <a:gd name="adj" fmla="val 3703"/>
            </a:avLst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16137" y="4109957"/>
            <a:ext cx="1925685" cy="1171786"/>
          </a:xfrm>
          <a:prstGeom prst="roundRect">
            <a:avLst>
              <a:gd name="adj" fmla="val 8670"/>
            </a:avLst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567157"/>
            <a:ext cx="11274552" cy="411479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2319337" y="4347023"/>
            <a:ext cx="151928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Bold SignalElectric StudioCreative VoltageDark Botanical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19337" y="4667063"/>
            <a:ext cx="1519285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1200" b="0">
                <a:latin typeface="Microsoft YaHei"/>
                <a:ea typeface="Microsoft YaHei"/>
                <a:cs typeface="Microsoft YaHei"/>
              </a:rPr>
              <a:t>演讲 · 品牌 · 技术分享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26468" y="4109957"/>
            <a:ext cx="1925685" cy="1171786"/>
          </a:xfrm>
          <a:prstGeom prst="roundRect">
            <a:avLst>
              <a:gd name="adj" fmla="val 8670"/>
            </a:avLst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567157"/>
            <a:ext cx="11274552" cy="411479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329668" y="4347023"/>
            <a:ext cx="151928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0C4A6E"/>
                </a:solidFill>
                <a:latin typeface="Microsoft YaHei"/>
                <a:ea typeface="Microsoft YaHei"/>
                <a:cs typeface="Microsoft YaHei"/>
              </a:rPr>
              <a:t xml:space="preserve">Blue Sky </a:t>
            </a:r>
            <a:r>
              <a:rPr sz="1200" b="1">
                <a:latin typeface="Microsoft YaHei"/>
                <a:ea typeface="Microsoft YaHei"/>
                <a:cs typeface="Microsoft YaHei"/>
              </a:rPr>
              <a:t>当前</a:t>
            </a:r>
            <a:r>
              <a:rPr sz="1200" b="0">
                <a:solidFill>
                  <a:srgbClr val="0C4A6E"/>
                </a:solidFill>
                <a:latin typeface="Microsoft YaHei"/>
                <a:ea typeface="Microsoft YaHei"/>
                <a:cs typeface="Microsoft YaHei"/>
              </a:rPr>
              <a:t>Notebook TabsPastel GeometrySplit PastelVintage Editorial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9668" y="4667063"/>
            <a:ext cx="1519285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1200" b="0">
                <a:latin typeface="Microsoft YaHei"/>
                <a:ea typeface="Microsoft YaHei"/>
                <a:cs typeface="Microsoft YaHei"/>
              </a:rPr>
              <a:t>教育 · 内部 · 创意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6798" y="4109957"/>
            <a:ext cx="1925685" cy="1171786"/>
          </a:xfrm>
          <a:prstGeom prst="roundRect">
            <a:avLst>
              <a:gd name="adj" fmla="val 8670"/>
            </a:avLst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567157"/>
            <a:ext cx="11274552" cy="411479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339998" y="4347023"/>
            <a:ext cx="151928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4C1D95"/>
                </a:solidFill>
                <a:latin typeface="Microsoft YaHei"/>
                <a:ea typeface="Microsoft YaHei"/>
                <a:cs typeface="Microsoft YaHei"/>
              </a:rPr>
              <a:t>Neon CyberTerminal GreenSwiss ModernPaper &amp; 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9998" y="4667063"/>
            <a:ext cx="1519285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1200" b="0">
                <a:latin typeface="Microsoft YaHei"/>
                <a:ea typeface="Microsoft YaHei"/>
                <a:cs typeface="Microsoft YaHei"/>
              </a:rPr>
              <a:t>开发 · 学术 · 极简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47129" y="4109957"/>
            <a:ext cx="1925685" cy="714586"/>
          </a:xfrm>
          <a:prstGeom prst="roundRect">
            <a:avLst>
              <a:gd name="adj" fmla="val 14218"/>
            </a:avLst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567157"/>
            <a:ext cx="11274552" cy="411479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8350329" y="4347023"/>
            <a:ext cx="151928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Aurora MeshEnterprise DarkGlassmorphismNeo-BrutalismChinese ChanData StoryModern NewspaperNeo-Retro Dev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15142" y="5556063"/>
            <a:ext cx="7958666" cy="163779"/>
          </a:xfrm>
          <a:prstGeom prst="roundRect">
            <a:avLst>
              <a:gd name="adj" fmla="val 50000"/>
            </a:avLst>
          </a:prstGeom>
          <a:solidFill>
            <a:srgbClr val="EFF4FD"/>
          </a:solidFill>
          <a:ln w="9525">
            <a:solidFill>
              <a:srgbClr val="2563EB"/>
            </a:solidFill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15142" y="5556063"/>
            <a:ext cx="7958666" cy="228600"/>
          </a:xfrm>
          <a:prstGeom prst="rect">
            <a:avLst/>
          </a:prstGeom>
          <a:noFill/>
        </p:spPr>
        <p:txBody>
          <a:bodyPr wrap="none" lIns="118533" rIns="118533" tIns="76200" bIns="76200">
            <a:normAutofit/>
          </a:bodyPr>
          <a:lstStyle/>
          <a:p>
            <a:pPr>
              <a:lnSpc>
                <a:spcPct val="160000"/>
              </a:lnSpc>
            </a:pPr>
            <a:r>
              <a:rPr sz="1200" b="0">
                <a:latin typeface="Microsoft YaHei"/>
                <a:ea typeface="Microsoft YaHei"/>
                <a:cs typeface="Microsoft YaHei"/>
              </a:rPr>
              <a:t xml:space="preserve">        每种预设都有完整的 CSS 视觉系统——不是简单换色。内容类型路由自动推荐最佳匹配。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4800" y="2032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04 / 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42542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561076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79609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798142" y="6604000"/>
            <a:ext cx="237066" cy="50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02942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21476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40009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58542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77076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695609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4616" y="2192815"/>
            <a:ext cx="119718" cy="914400"/>
          </a:xfrm>
          <a:prstGeom prst="rect">
            <a:avLst/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44375"/>
            <a:ext cx="11274552" cy="63500"/>
          </a:xfrm>
          <a:prstGeom prst="rect">
            <a:avLst/>
          </a:prstGeom>
          <a:solidFill>
            <a:srgbClr val="BBE5F8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44375"/>
            <a:ext cx="11274552" cy="228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DEE7F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45035"/>
            <a:ext cx="11274552" cy="228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200" b="1">
                <a:latin typeface="Microsoft YaHei"/>
                <a:ea typeface="Microsoft YaHei"/>
                <a:cs typeface="Microsoft YaHei"/>
              </a:rPr>
              <a:t>工程化能力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02515"/>
            <a:ext cx="11274552" cy="914400"/>
          </a:xfrm>
          <a:prstGeom prst="roundRect">
            <a:avLst>
              <a:gd name="adj" fmla="val 3703"/>
            </a:avLst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54075"/>
            <a:ext cx="11274552" cy="228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1200" b="0">
                <a:latin typeface="Microsoft YaHei"/>
                <a:ea typeface="Microsoft YaHei"/>
                <a:cs typeface="Microsoft YaHei"/>
              </a:rPr>
              <a:t>播放、编辑、Review —— 全流程闭环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2032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05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2542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61076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79609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98142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16676" y="6604000"/>
            <a:ext cx="237066" cy="50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21476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40009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58542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77076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95609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01436" y="457200"/>
            <a:ext cx="386080" cy="914400"/>
          </a:xfrm>
          <a:prstGeom prst="rect">
            <a:avLst/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01436" y="1508760"/>
            <a:ext cx="386080" cy="424349"/>
          </a:xfrm>
          <a:prstGeom prst="roundRect">
            <a:avLst>
              <a:gd name="adj" fmla="val 50000"/>
            </a:avLst>
          </a:prstGeom>
          <a:solidFill>
            <a:srgbClr val="E9EFFD"/>
          </a:solidFill>
          <a:ln w="9525">
            <a:solidFill>
              <a:srgbClr val="2563EB"/>
            </a:solidFill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01436" y="1508760"/>
            <a:ext cx="386080" cy="424349"/>
          </a:xfrm>
          <a:prstGeom prst="rect">
            <a:avLst/>
          </a:prstGeom>
          <a:noFill/>
        </p:spPr>
        <p:txBody>
          <a:bodyPr wrap="none" lIns="118533" rIns="118533" tIns="33866" bIns="33866">
            <a:normAutofit/>
          </a:bodyPr>
          <a:lstStyle/>
          <a:p>
            <a:pPr>
              <a:lnSpc>
                <a:spcPct val="120000"/>
              </a:lnSpc>
            </a:pPr>
            <a:r>
              <a:rPr sz="900" b="1">
                <a:latin typeface="Microsoft YaHei"/>
                <a:ea typeface="Microsoft YaHei"/>
                <a:cs typeface="Microsoft YaHei"/>
              </a:rPr>
              <a:t>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53809" y="2070269"/>
            <a:ext cx="7281333" cy="228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200" b="1">
                <a:latin typeface="Microsoft YaHei"/>
                <a:ea typeface="Microsoft YaHei"/>
                <a:cs typeface="Microsoft YaHei"/>
              </a:rPr>
              <a:t>编辑模式 —— 立即修复任何内容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53809" y="2227749"/>
            <a:ext cx="7281333" cy="914400"/>
          </a:xfrm>
          <a:prstGeom prst="roundRect">
            <a:avLst>
              <a:gd name="adj" fmla="val 3703"/>
            </a:avLst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736509"/>
            <a:ext cx="11274552" cy="807713"/>
          </a:xfrm>
          <a:prstGeom prst="rect">
            <a:avLst/>
          </a:prstGeom>
          <a:noFill/>
        </p:spPr>
        <p:txBody>
          <a:bodyPr wrap="none" lIns="152400" rIns="152400" tIns="118533" bIns="118533">
            <a:normAutofit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7200" y="3736509"/>
            <a:ext cx="11274552" cy="804250"/>
          </a:xfrm>
          <a:prstGeom prst="rect">
            <a:avLst/>
          </a:prstGeom>
          <a:noFill/>
        </p:spPr>
        <p:txBody>
          <a:bodyPr wrap="none" lIns="152400" rIns="152400" tIns="118533" bIns="118533">
            <a:normAutofit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3736509"/>
            <a:ext cx="11274552" cy="731519"/>
          </a:xfrm>
          <a:prstGeom prst="rect">
            <a:avLst/>
          </a:prstGeom>
          <a:noFill/>
        </p:spPr>
        <p:txBody>
          <a:bodyPr wrap="none" lIns="152400" rIns="152400" tIns="118533" bIns="118533">
            <a:normAutofit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6365392" y="3516375"/>
            <a:ext cx="3165640" cy="914400"/>
          </a:xfrm>
          <a:prstGeom prst="roundRect">
            <a:avLst>
              <a:gd name="adj" fmla="val 11111"/>
            </a:avLst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5392" y="4476496"/>
            <a:ext cx="3165640" cy="274320"/>
          </a:xfrm>
          <a:prstGeom prst="rect">
            <a:avLst/>
          </a:prstGeom>
          <a:noFill/>
        </p:spPr>
        <p:txBody>
          <a:bodyPr wrap="none" lIns="67733" rIns="67733" tIns="16933" bIns="16933">
            <a:normAutofit/>
          </a:bodyPr>
          <a:lstStyle/>
          <a:p>
            <a:pPr>
              <a:lnSpc>
                <a:spcPct val="120000"/>
              </a:lnSpc>
            </a:pPr>
            <a:r>
              <a:rPr sz="750" b="1">
                <a:latin typeface="Microsoft YaHei"/>
                <a:ea typeface="Microsoft YaHei"/>
                <a:cs typeface="Microsoft YaHei"/>
              </a:rPr>
              <a:t>编辑模式激活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5392" y="4796535"/>
            <a:ext cx="3165640" cy="274320"/>
          </a:xfrm>
          <a:prstGeom prst="rect">
            <a:avLst/>
          </a:prstGeom>
          <a:noFill/>
        </p:spPr>
        <p:txBody>
          <a:bodyPr wrap="none" lIns="33866" rIns="33866" tIns="16933" bIns="16933">
            <a:normAutofit/>
          </a:bodyPr>
          <a:lstStyle/>
          <a:p>
            <a:pPr>
              <a:lnSpc>
                <a:spcPct val="120000"/>
              </a:lnSpc>
            </a:pPr>
            <a:r>
              <a:rPr sz="1200" b="1">
                <a:latin typeface="Microsoft YaHei"/>
                <a:ea typeface="Microsoft YaHei"/>
                <a:cs typeface="Microsoft YaHei"/>
              </a:rPr>
              <a:t>此标题可编辑 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5392" y="5116576"/>
            <a:ext cx="3165640" cy="274320"/>
          </a:xfrm>
          <a:prstGeom prst="rect">
            <a:avLst/>
          </a:prstGeom>
          <a:noFill/>
        </p:spPr>
        <p:txBody>
          <a:bodyPr wrap="none" lIns="50800" rIns="50800" tIns="25400" bIns="25400">
            <a:normAutofit/>
          </a:bodyPr>
          <a:lstStyle/>
          <a:p>
            <a:pPr>
              <a:lnSpc>
                <a:spcPct val="160000"/>
              </a:lnSpc>
            </a:pPr>
            <a:r>
              <a:rPr sz="1200" b="0">
                <a:latin typeface="Microsoft YaHei"/>
                <a:ea typeface="Microsoft YaHei"/>
                <a:cs typeface="Microsoft YaHei"/>
              </a:rPr>
              <a:t>此段落也可以。点击任何高亮元素开始输入。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5392" y="5436616"/>
            <a:ext cx="3165640" cy="274320"/>
          </a:xfrm>
          <a:prstGeom prst="rect">
            <a:avLst/>
          </a:prstGeom>
          <a:noFill/>
        </p:spPr>
        <p:txBody>
          <a:bodyPr wrap="none" lIns="50800" rIns="50800" tIns="16933" bIns="16933">
            <a:normAutofit/>
          </a:bodyPr>
          <a:lstStyle/>
          <a:p>
            <a:pPr>
              <a:lnSpc>
                <a:spcPct val="160000"/>
              </a:lnSpc>
            </a:pPr>
            <a:r>
              <a:rPr sz="839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列表项可编辑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5392" y="5756656"/>
            <a:ext cx="3165640" cy="274320"/>
          </a:xfrm>
          <a:prstGeom prst="rect">
            <a:avLst/>
          </a:prstGeom>
          <a:noFill/>
        </p:spPr>
        <p:txBody>
          <a:bodyPr wrap="none" lIns="50800" rIns="50800" tIns="16933" bIns="16933">
            <a:normAutofit/>
          </a:bodyPr>
          <a:lstStyle/>
          <a:p>
            <a:pPr>
              <a:lnSpc>
                <a:spcPct val="160000"/>
              </a:lnSpc>
            </a:pPr>
            <a:r>
              <a:rPr sz="839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统计数据、标签、标注 —— 一切都可以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65392" y="6076696"/>
            <a:ext cx="3165640" cy="914400"/>
          </a:xfrm>
          <a:prstGeom prst="roundRect">
            <a:avLst>
              <a:gd name="adj" fmla="val 11111"/>
            </a:avLst>
          </a:prstGeom>
          <a:solidFill>
            <a:srgbClr val="EFF4FD"/>
          </a:solidFill>
          <a:ln w="9525">
            <a:solidFill>
              <a:srgbClr val="2563EB"/>
            </a:solidFill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800" y="2032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06 / 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42542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561076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79609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98142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16676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35209" y="6604000"/>
            <a:ext cx="237066" cy="50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40009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58542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77076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95609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01436" y="457200"/>
            <a:ext cx="386080" cy="914400"/>
          </a:xfrm>
          <a:prstGeom prst="rect">
            <a:avLst/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01436" y="1508760"/>
            <a:ext cx="386080" cy="424349"/>
          </a:xfrm>
          <a:prstGeom prst="roundRect">
            <a:avLst>
              <a:gd name="adj" fmla="val 50000"/>
            </a:avLst>
          </a:prstGeom>
          <a:solidFill>
            <a:srgbClr val="E9EFFD"/>
          </a:solidFill>
          <a:ln w="9525">
            <a:solidFill>
              <a:srgbClr val="2563EB"/>
            </a:solidFill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01436" y="1508760"/>
            <a:ext cx="386080" cy="424349"/>
          </a:xfrm>
          <a:prstGeom prst="rect">
            <a:avLst/>
          </a:prstGeom>
          <a:noFill/>
        </p:spPr>
        <p:txBody>
          <a:bodyPr wrap="none" lIns="118533" rIns="118533" tIns="33866" bIns="33866">
            <a:normAutofit/>
          </a:bodyPr>
          <a:lstStyle/>
          <a:p>
            <a:pPr>
              <a:lnSpc>
                <a:spcPct val="120000"/>
              </a:lnSpc>
            </a:pPr>
            <a:r>
              <a:rPr sz="900" b="1">
                <a:latin typeface="Microsoft YaHei"/>
                <a:ea typeface="Microsoft YaHei"/>
                <a:cs typeface="Microsoft YaHei"/>
              </a:rPr>
              <a:t>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38476" y="2070269"/>
            <a:ext cx="7112000" cy="228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200" b="1">
                <a:latin typeface="Microsoft YaHei"/>
                <a:ea typeface="Microsoft YaHei"/>
                <a:cs typeface="Microsoft YaHei"/>
              </a:rPr>
              <a:t>演示模式 —— 自由导航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38476" y="2227749"/>
            <a:ext cx="7112000" cy="914400"/>
          </a:xfrm>
          <a:prstGeom prst="roundRect">
            <a:avLst>
              <a:gd name="adj" fmla="val 3703"/>
            </a:avLst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2565" y="3516375"/>
            <a:ext cx="3080994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30000"/>
              </a:lnSpc>
            </a:pPr>
            <a:r>
              <a:rPr sz="1200" b="1">
                <a:latin typeface="Microsoft YaHei"/>
                <a:ea typeface="Microsoft YaHei"/>
                <a:cs typeface="Microsoft YaHei"/>
              </a:rPr>
              <a:t>导航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2565" y="3836415"/>
            <a:ext cx="3080994" cy="914400"/>
          </a:xfrm>
          <a:prstGeom prst="roundRect">
            <a:avLst>
              <a:gd name="adj" fmla="val 11111"/>
            </a:avLst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39365" y="4796535"/>
            <a:ext cx="163439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→Space↓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73755" y="4796535"/>
            <a:ext cx="1853003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下一个幻灯片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39365" y="5253735"/>
            <a:ext cx="163439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←↑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73755" y="5253735"/>
            <a:ext cx="1853003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上一个幻灯片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39365" y="5710935"/>
            <a:ext cx="163439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Home / 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73755" y="5710935"/>
            <a:ext cx="1853003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首/末幻灯片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39365" y="6168135"/>
            <a:ext cx="163439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F5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73755" y="6168135"/>
            <a:ext cx="1853003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全屏演示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39365" y="6625335"/>
            <a:ext cx="163439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73755" y="6625335"/>
            <a:ext cx="1853003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演讲者窗口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39365" y="7082535"/>
            <a:ext cx="163439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滑动 ← 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3755" y="7082535"/>
            <a:ext cx="1853003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触摸导航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2192" y="3279309"/>
            <a:ext cx="3487394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30000"/>
              </a:lnSpc>
            </a:pPr>
            <a:r>
              <a:rPr sz="1200" b="1">
                <a:latin typeface="Microsoft YaHei"/>
                <a:ea typeface="Microsoft YaHei"/>
                <a:cs typeface="Microsoft YaHei"/>
              </a:rPr>
              <a:t>演讲者窗口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736509"/>
            <a:ext cx="11274552" cy="804250"/>
          </a:xfrm>
          <a:prstGeom prst="rect">
            <a:avLst/>
          </a:prstGeom>
          <a:noFill/>
        </p:spPr>
        <p:txBody>
          <a:bodyPr wrap="none" lIns="152400" rIns="152400" tIns="118533" bIns="118533">
            <a:normAutofit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457200" y="3736509"/>
            <a:ext cx="11274552" cy="731519"/>
          </a:xfrm>
          <a:prstGeom prst="rect">
            <a:avLst/>
          </a:prstGeom>
          <a:noFill/>
        </p:spPr>
        <p:txBody>
          <a:bodyPr wrap="none" lIns="152400" rIns="152400" tIns="118533" bIns="118533">
            <a:normAutofit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" y="3736509"/>
            <a:ext cx="11274552" cy="731519"/>
          </a:xfrm>
          <a:prstGeom prst="rect">
            <a:avLst/>
          </a:prstGeom>
          <a:noFill/>
        </p:spPr>
        <p:txBody>
          <a:bodyPr wrap="none" lIns="152400" rIns="152400" tIns="118533" bIns="118533">
            <a:normAutofit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304800" y="2032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07 / 10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42542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561076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79609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798142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916676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035209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53742" y="6604000"/>
            <a:ext cx="237066" cy="50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58542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77076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695609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33796" y="457200"/>
            <a:ext cx="721360" cy="914400"/>
          </a:xfrm>
          <a:prstGeom prst="rect">
            <a:avLst/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33796" y="1508760"/>
            <a:ext cx="721360" cy="424349"/>
          </a:xfrm>
          <a:prstGeom prst="roundRect">
            <a:avLst>
              <a:gd name="adj" fmla="val 50000"/>
            </a:avLst>
          </a:prstGeom>
          <a:solidFill>
            <a:srgbClr val="E9EFFD"/>
          </a:solidFill>
          <a:ln w="9525">
            <a:solidFill>
              <a:srgbClr val="2563EB"/>
            </a:solidFill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33796" y="1508760"/>
            <a:ext cx="721360" cy="424349"/>
          </a:xfrm>
          <a:prstGeom prst="rect">
            <a:avLst/>
          </a:prstGeom>
          <a:noFill/>
        </p:spPr>
        <p:txBody>
          <a:bodyPr wrap="none" lIns="118533" rIns="118533" tIns="33866" bIns="33866">
            <a:normAutofit/>
          </a:bodyPr>
          <a:lstStyle/>
          <a:p>
            <a:pPr>
              <a:lnSpc>
                <a:spcPct val="120000"/>
              </a:lnSpc>
            </a:pPr>
            <a:r>
              <a:rPr sz="900" b="1">
                <a:latin typeface="Microsoft YaHei"/>
                <a:ea typeface="Microsoft YaHei"/>
                <a:cs typeface="Microsoft YaHei"/>
              </a:rPr>
              <a:t>v2.12 新增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69142" y="2070269"/>
            <a:ext cx="7450666" cy="228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200" b="1">
                <a:latin typeface="Microsoft YaHei"/>
                <a:ea typeface="Microsoft YaHei"/>
                <a:cs typeface="Microsoft YaHei"/>
              </a:rPr>
              <a:t>15 项生成前校验，零容忍违规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69142" y="2227749"/>
            <a:ext cx="7450666" cy="914400"/>
          </a:xfrm>
          <a:prstGeom prst="roundRect">
            <a:avLst>
              <a:gd name="adj" fmla="val 3703"/>
            </a:avLst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70074" y="3279309"/>
            <a:ext cx="3656685" cy="3457786"/>
          </a:xfrm>
          <a:prstGeom prst="roundRect">
            <a:avLst>
              <a:gd name="adj" fmla="val 2938"/>
            </a:avLst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73274" y="3516375"/>
            <a:ext cx="3250285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30000"/>
              </a:lnSpc>
            </a:pPr>
            <a:r>
              <a:rPr sz="1200" b="1">
                <a:latin typeface="Microsoft YaHei"/>
                <a:ea typeface="Microsoft YaHei"/>
                <a:cs typeface="Microsoft YaHei"/>
              </a:rPr>
              <a:t>核心 8 项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0074" y="3836415"/>
            <a:ext cx="1435753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内容密度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05827" y="3836415"/>
            <a:ext cx="2220931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≥ 65% 填充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0074" y="4293615"/>
            <a:ext cx="1435753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列平衡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05827" y="4293615"/>
            <a:ext cx="2220931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最短列 ≥ 60%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0074" y="4750815"/>
            <a:ext cx="1435753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标题换行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05827" y="4750815"/>
            <a:ext cx="2220931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≤ 3 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0074" y="5208015"/>
            <a:ext cx="1435753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标题质量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05827" y="5208015"/>
            <a:ext cx="2220931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断言式，非通用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0074" y="5665215"/>
            <a:ext cx="1435753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布局轮换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5827" y="5665215"/>
            <a:ext cx="2220931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禁止连续 3 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0074" y="6122415"/>
            <a:ext cx="1435753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色彩律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05827" y="6122415"/>
            <a:ext cx="2220931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90/8/2 分配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2192" y="3279309"/>
            <a:ext cx="3656685" cy="3457786"/>
          </a:xfrm>
          <a:prstGeom prst="roundRect">
            <a:avLst>
              <a:gd name="adj" fmla="val 2938"/>
            </a:avLst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5392" y="3516375"/>
            <a:ext cx="3250285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30000"/>
              </a:lnSpc>
            </a:pPr>
            <a:r>
              <a:rPr sz="1200" b="1">
                <a:latin typeface="Microsoft YaHei"/>
                <a:ea typeface="Microsoft YaHei"/>
                <a:cs typeface="Microsoft YaHei"/>
              </a:rPr>
              <a:t>视觉硬规则（新增 7 项）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2192" y="3836415"/>
            <a:ext cx="1858694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U+FE0F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20887" y="3836415"/>
            <a:ext cx="179799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零容忍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62192" y="4293615"/>
            <a:ext cx="1858694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letter-spacing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20887" y="4293615"/>
            <a:ext cx="179799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正文 ≤ 0.05em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2192" y="4750815"/>
            <a:ext cx="1858694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纯黑背景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20887" y="4750815"/>
            <a:ext cx="179799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用 #111 替代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62192" y="5208015"/>
            <a:ext cx="1858694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bounce easing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20887" y="5208015"/>
            <a:ext cx="179799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禁用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62192" y="5665215"/>
            <a:ext cx="1858694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嵌套卡片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20887" y="5665215"/>
            <a:ext cx="179799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扁平化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62192" y="6122415"/>
            <a:ext cx="1858694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padding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20887" y="6122415"/>
            <a:ext cx="179799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≥ 0.75rem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69142" y="7011416"/>
            <a:ext cx="7450666" cy="214579"/>
          </a:xfrm>
          <a:prstGeom prst="roundRect">
            <a:avLst>
              <a:gd name="adj" fmla="val 50000"/>
            </a:avLst>
          </a:prstGeom>
          <a:solidFill>
            <a:srgbClr val="EFF4FD"/>
          </a:solidFill>
          <a:ln w="9525">
            <a:solidFill>
              <a:srgbClr val="2563EB"/>
            </a:solidFill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69142" y="7011416"/>
            <a:ext cx="7450666" cy="228600"/>
          </a:xfrm>
          <a:prstGeom prst="rect">
            <a:avLst/>
          </a:prstGeom>
          <a:noFill/>
        </p:spPr>
        <p:txBody>
          <a:bodyPr wrap="none" lIns="135466" rIns="135466" tIns="101600" bIns="101600">
            <a:normAutofit/>
          </a:bodyPr>
          <a:lstStyle/>
          <a:p>
            <a:pPr>
              <a:lnSpc>
                <a:spcPct val="160000"/>
              </a:lnSpc>
            </a:pPr>
            <a:r>
              <a:rPr sz="1200" b="0">
                <a:latin typeface="Microsoft YaHei"/>
                <a:ea typeface="Microsoft YaHei"/>
                <a:cs typeface="Microsoft YaHei"/>
              </a:rPr>
              <a:t xml:space="preserve">        源自 </a:t>
            </a:r>
            <a:r>
              <a:rPr sz="1200" b="1">
                <a:latin typeface="Microsoft YaHei"/>
                <a:ea typeface="Microsoft YaHei"/>
                <a:cs typeface="Microsoft YaHei"/>
              </a:rPr>
              <a:t>Impeccable Anti-Patterns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（37 个视觉反模式），筛选适用于幻灯片的子集。组装 HTML 后逐条扫描、自动修复、再写入。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4800" y="2032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08 / 10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42542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561076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679609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798142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916676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209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153742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272276" y="6604000"/>
            <a:ext cx="237066" cy="50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577076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695609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99836" y="457200"/>
            <a:ext cx="589279" cy="914400"/>
          </a:xfrm>
          <a:prstGeom prst="rect">
            <a:avLst/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99836" y="1508760"/>
            <a:ext cx="589279" cy="424349"/>
          </a:xfrm>
          <a:prstGeom prst="roundRect">
            <a:avLst>
              <a:gd name="adj" fmla="val 50000"/>
            </a:avLst>
          </a:prstGeom>
          <a:solidFill>
            <a:srgbClr val="E9EFFD"/>
          </a:solidFill>
          <a:ln w="9525">
            <a:solidFill>
              <a:srgbClr val="2563EB"/>
            </a:solidFill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9836" y="1508760"/>
            <a:ext cx="589279" cy="424349"/>
          </a:xfrm>
          <a:prstGeom prst="rect">
            <a:avLst/>
          </a:prstGeom>
          <a:noFill/>
        </p:spPr>
        <p:txBody>
          <a:bodyPr wrap="none" lIns="118533" rIns="118533" tIns="33866" bIns="33866">
            <a:normAutofit/>
          </a:bodyPr>
          <a:lstStyle/>
          <a:p>
            <a:pPr>
              <a:lnSpc>
                <a:spcPct val="120000"/>
              </a:lnSpc>
            </a:pPr>
            <a:r>
              <a:rPr sz="900" b="1">
                <a:latin typeface="Microsoft YaHei"/>
                <a:ea typeface="Microsoft YaHei"/>
                <a:cs typeface="Microsoft YaHei"/>
              </a:rPr>
              <a:t>精修模式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53809" y="2070269"/>
            <a:ext cx="7281333" cy="228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200" b="1">
                <a:latin typeface="Microsoft YaHei"/>
                <a:ea typeface="Microsoft YaHei"/>
                <a:cs typeface="Microsoft YaHei"/>
              </a:rPr>
              <a:t>16 项 Review 检查点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53809" y="2227749"/>
            <a:ext cx="7281333" cy="914400"/>
          </a:xfrm>
          <a:prstGeom prst="roundRect">
            <a:avLst>
              <a:gd name="adj" fmla="val 3703"/>
            </a:avLst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54719" y="3279309"/>
            <a:ext cx="3572040" cy="3457786"/>
          </a:xfrm>
          <a:prstGeom prst="roundRect">
            <a:avLst>
              <a:gd name="adj" fmla="val 2938"/>
            </a:avLst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7919" y="3516375"/>
            <a:ext cx="3165640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30000"/>
              </a:lnSpc>
            </a:pPr>
            <a:r>
              <a:rPr sz="1200" b="1">
                <a:latin typeface="Microsoft YaHei"/>
                <a:ea typeface="Microsoft YaHei"/>
                <a:cs typeface="Microsoft YaHei"/>
              </a:rPr>
              <a:t>自动检测（6 项）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7919" y="3836415"/>
            <a:ext cx="3165640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39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00" b="1">
                <a:latin typeface="Microsoft YaHei"/>
                <a:ea typeface="Microsoft YaHei"/>
                <a:cs typeface="Microsoft YaHei"/>
              </a:rPr>
              <a:t>视角翻转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——从"我/我们"到"你/你们"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7919" y="4156455"/>
            <a:ext cx="3165640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39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00" b="1">
                <a:latin typeface="Microsoft YaHei"/>
                <a:ea typeface="Microsoft YaHei"/>
                <a:cs typeface="Microsoft YaHei"/>
              </a:rPr>
              <a:t>结论先行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——标题是断言，不是名词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7919" y="4476496"/>
            <a:ext cx="3165640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39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00" b="1">
                <a:latin typeface="Microsoft YaHei"/>
                <a:ea typeface="Microsoft YaHei"/>
                <a:cs typeface="Microsoft YaHei"/>
              </a:rPr>
              <a:t>三概念法则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——单页新概念 ≤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7919" y="4796535"/>
            <a:ext cx="3165640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39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00" b="1">
                <a:latin typeface="Microsoft YaHei"/>
                <a:ea typeface="Microsoft YaHei"/>
                <a:cs typeface="Microsoft YaHei"/>
              </a:rPr>
              <a:t>禁止连续密集页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——3+ 同布局打断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7919" y="5116575"/>
            <a:ext cx="3165640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39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00" b="1">
                <a:latin typeface="Microsoft YaHei"/>
                <a:ea typeface="Microsoft YaHei"/>
                <a:cs typeface="Microsoft YaHei"/>
              </a:rPr>
              <a:t>字号底线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——正文不低于可读阈值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7919" y="5436615"/>
            <a:ext cx="3165640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39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00" b="1">
                <a:latin typeface="Microsoft YaHei"/>
                <a:ea typeface="Microsoft YaHei"/>
                <a:cs typeface="Microsoft YaHei"/>
              </a:rPr>
              <a:t>眯眼测试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——明确的视觉焦点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2192" y="3279309"/>
            <a:ext cx="3572040" cy="3457786"/>
          </a:xfrm>
          <a:prstGeom prst="roundRect">
            <a:avLst>
              <a:gd name="adj" fmla="val 2938"/>
            </a:avLst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5392" y="3516375"/>
            <a:ext cx="3165640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30000"/>
              </a:lnSpc>
            </a:pPr>
            <a:r>
              <a:rPr sz="1200" b="1">
                <a:latin typeface="Microsoft YaHei"/>
                <a:ea typeface="Microsoft YaHei"/>
                <a:cs typeface="Microsoft YaHei"/>
              </a:rPr>
              <a:t>AI 建议（10 项）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5392" y="3836415"/>
            <a:ext cx="3165640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39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00" b="1">
                <a:latin typeface="Microsoft YaHei"/>
                <a:ea typeface="Microsoft YaHei"/>
                <a:cs typeface="Microsoft YaHei"/>
              </a:rPr>
              <a:t>痛点前置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——前 2 页有具体场景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5392" y="4156455"/>
            <a:ext cx="3165640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39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00" b="1">
                <a:latin typeface="Microsoft YaHei"/>
                <a:ea typeface="Microsoft YaHei"/>
                <a:cs typeface="Microsoft YaHei"/>
              </a:rPr>
              <a:t>量化承诺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——前 3 页有数字收益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5392" y="4476496"/>
            <a:ext cx="3165640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39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00" b="1">
                <a:latin typeface="Microsoft YaHei"/>
                <a:ea typeface="Microsoft YaHei"/>
                <a:cs typeface="Microsoft YaHei"/>
              </a:rPr>
              <a:t>MECE 原则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——分类不重叠不遗漏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5392" y="4796535"/>
            <a:ext cx="3165640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39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00" b="1">
                <a:latin typeface="Microsoft YaHei"/>
                <a:ea typeface="Microsoft YaHei"/>
                <a:cs typeface="Microsoft YaHei"/>
              </a:rPr>
              <a:t>奥卡姆剃刀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——每页服务核心目标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5392" y="5116575"/>
            <a:ext cx="3165640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39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00" b="1">
                <a:latin typeface="Microsoft YaHei"/>
                <a:ea typeface="Microsoft YaHei"/>
                <a:cs typeface="Microsoft YaHei"/>
              </a:rPr>
              <a:t>10 分钟注意力重置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——案例/提问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5392" y="5436615"/>
            <a:ext cx="3165640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39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00" b="1">
                <a:latin typeface="Microsoft YaHei"/>
                <a:ea typeface="Microsoft YaHei"/>
                <a:cs typeface="Microsoft YaHei"/>
              </a:rPr>
              <a:t>留白缓冲页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——每 5-6 页呼吸页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53809" y="7011416"/>
            <a:ext cx="7281333" cy="214579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59E0B"/>
            </a:solidFill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53809" y="7011416"/>
            <a:ext cx="7281333" cy="228600"/>
          </a:xfrm>
          <a:prstGeom prst="rect">
            <a:avLst/>
          </a:prstGeom>
          <a:noFill/>
        </p:spPr>
        <p:txBody>
          <a:bodyPr wrap="none" lIns="135466" rIns="135466" tIns="101600" bIns="101600">
            <a:normAutofit/>
          </a:bodyPr>
          <a:lstStyle/>
          <a:p>
            <a:pPr>
              <a:lnSpc>
                <a:spcPct val="160000"/>
              </a:lnSpc>
            </a:pPr>
            <a:r>
              <a:rPr sz="1200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rPr>
              <a:t>两种规划深度：自动</a:t>
            </a:r>
            <a:r>
              <a:rPr sz="1200" b="0">
                <a:latin typeface="Microsoft YaHei"/>
                <a:ea typeface="Microsoft YaHei"/>
                <a:cs typeface="Microsoft YaHei"/>
              </a:rPr>
              <a:t xml:space="preserve"> 快速出稿（3-6 分钟）；</a:t>
            </a:r>
            <a:r>
              <a:rPr sz="1200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rPr>
              <a:t>精修</a:t>
            </a:r>
            <a:r>
              <a:rPr sz="1200" b="0">
                <a:latin typeface="Microsoft YaHei"/>
                <a:ea typeface="Microsoft YaHei"/>
                <a:cs typeface="Microsoft YaHei"/>
              </a:rPr>
              <a:t xml:space="preserve"> 深度规划 + 自动 Review（8-15 分钟）。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800" y="2032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09 / 10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42542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561076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79609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798142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916676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035209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53742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72276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90809" y="6604000"/>
            <a:ext cx="237066" cy="50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695609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76620" y="1615876"/>
            <a:ext cx="235712" cy="914400"/>
          </a:xfrm>
          <a:prstGeom prst="rect">
            <a:avLst/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6476" y="2667436"/>
            <a:ext cx="6096000" cy="228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latin typeface="Microsoft YaHei"/>
                <a:ea typeface="Microsoft YaHei"/>
                <a:cs typeface="Microsoft YaHei"/>
              </a:rPr>
              <a:t>演示用幻灯片，报告用滚动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6476" y="2824916"/>
            <a:ext cx="6096000" cy="914400"/>
          </a:xfrm>
          <a:prstGeom prst="roundRect">
            <a:avLst>
              <a:gd name="adj" fmla="val 3703"/>
            </a:avLst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46476" y="3876476"/>
            <a:ext cx="6096000" cy="914400"/>
          </a:xfrm>
          <a:prstGeom prst="roundRect">
            <a:avLst>
              <a:gd name="adj" fmla="val 11111"/>
            </a:avLst>
          </a:prstGeom>
          <a:noFill/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76344" y="4928036"/>
            <a:ext cx="123626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70000"/>
              </a:lnSpc>
            </a:pPr>
            <a:r>
              <a:rPr sz="1200" b="1">
                <a:latin typeface="Microsoft YaHei"/>
                <a:ea typeface="Microsoft YaHei"/>
                <a:cs typeface="Microsoft YaHei"/>
              </a:rPr>
              <a:t>slide-creator</a:t>
            </a:r>
            <a:r>
              <a:rPr sz="1200" b="0">
                <a:latin typeface="Microsoft YaHei"/>
                <a:ea typeface="Microsoft YaHei"/>
                <a:cs typeface="Microsoft YaHei"/>
              </a:rPr>
              <a:t xml:space="preserve"> 做逐页演示，</a:t>
            </a:r>
            <a:r>
              <a:rPr sz="1200" b="1">
                <a:latin typeface="Microsoft YaHei"/>
                <a:ea typeface="Microsoft YaHei"/>
                <a:cs typeface="Microsoft YaHei"/>
              </a:rPr>
              <a:t>report-creator</a:t>
            </a:r>
            <a:r>
              <a:rPr sz="1200" b="0">
                <a:latin typeface="Microsoft YaHei"/>
                <a:ea typeface="Microsoft YaHei"/>
                <a:cs typeface="Microsoft YaHei"/>
              </a:rPr>
              <a:t xml:space="preserve"> 做长篇幅报告。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6014" y="5080309"/>
            <a:ext cx="1116922" cy="228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60000"/>
              </a:lnSpc>
            </a:pPr>
            <a:r>
              <a:rPr sz="1200" b="0">
                <a:latin typeface="Microsoft YaHei"/>
                <a:ea typeface="Microsoft YaHei"/>
                <a:cs typeface="Microsoft YaHei"/>
              </a:rPr>
              <a:t xml:space="preserve">          两者互补，共享同样的设计纪律和工程标准。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25769" y="5315275"/>
            <a:ext cx="328269" cy="30473"/>
          </a:xfrm>
          <a:prstGeom prst="roundRect">
            <a:avLst>
              <a:gd name="adj" fmla="val 50000"/>
            </a:avLst>
          </a:prstGeom>
          <a:solidFill>
            <a:srgbClr val="EDF2FD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50800" bIns="50800">
            <a:normAutofit/>
          </a:bodyPr>
          <a:lstStyle/>
          <a:p>
            <a:pPr algn="ctr"/>
            <a:r>
              <a:rPr sz="1050">
                <a:solidFill>
                  <a:srgbClr val="1E3A8A"/>
                </a:solidFill>
              </a:rPr>
              <a:t>clawhub install kai-slide-creator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8300" y="5229931"/>
            <a:ext cx="9723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200" b="0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clawhub install kai-slide-creator</a:t>
            </a:r>
          </a:p>
          <a:p>
            <a:pPr algn="ctr">
              <a:lnSpc>
                <a:spcPct val="160000"/>
              </a:lnSpc>
            </a:pPr>
            <a:r>
              <a:rPr sz="1200" b="0">
                <a:latin typeface="Microsoft YaHei"/>
                <a:ea typeface="Microsoft YaHei"/>
                <a:cs typeface="Microsoft YaHei"/>
              </a:rPr>
              <a:t xml:space="preserve">         · </a:t>
            </a:r>
          </a:p>
          <a:p>
            <a:pPr algn="ctr">
              <a:lnSpc>
                <a:spcPct val="160000"/>
              </a:lnSpc>
            </a:pPr>
            <a:r>
              <a:rPr sz="1200" b="0">
                <a:latin typeface="Microsoft YaHei"/>
                <a:ea typeface="Microsoft YaHei"/>
                <a:cs typeface="Microsoft YaHei"/>
              </a:rPr>
              <a:t xml:space="preserve">        </a:t>
            </a:r>
            <a:r>
              <a:rPr sz="1200" b="0">
                <a:latin typeface="Microsoft YaHei"/>
                <a:ea typeface="Microsoft YaHei"/>
                <a:cs typeface="Microsoft YaHei"/>
              </a:rPr>
              <a:t>GitHub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" y="2032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10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2542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61076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79609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98142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16676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209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53742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72276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90809" y="6604000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09342" y="6604000"/>
            <a:ext cx="237066" cy="50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