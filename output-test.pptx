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7616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9FF"/>
            </a:gs>
            <a:gs pos="100000">
              <a:srgbClr val="E0F2F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28750" y="2097058"/>
            <a:ext cx="1522306" cy="167940"/>
          </a:xfrm>
          <a:prstGeom prst="roundRect">
            <a:avLst>
              <a:gd name="adj" fmla="val 50000"/>
            </a:avLst>
          </a:prstGeom>
          <a:solidFill>
            <a:srgbClr val="DBEA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28750" y="2097058"/>
            <a:ext cx="1522306" cy="167940"/>
          </a:xfrm>
          <a:prstGeom prst="rect">
            <a:avLst/>
          </a:prstGeom>
          <a:noFill/>
        </p:spPr>
        <p:txBody>
          <a:bodyPr wrap="square" lIns="118533" rIns="118533" tIns="33866" bIns="33866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kai-slide-creator v2.12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876" y="2435725"/>
            <a:ext cx="4267200" cy="1341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400" b="1">
                <a:latin typeface="Microsoft YaHei"/>
                <a:ea typeface="Microsoft YaHei"/>
                <a:cs typeface="Microsoft YaHei"/>
              </a:rPr>
              <a:t>AI 驱动的</a:t>
            </a:r>
          </a:p>
          <a:p>
            <a:pPr algn="ctr">
              <a:lnSpc>
                <a:spcPct val="110000"/>
              </a:lnSpc>
            </a:pPr>
            <a:r>
              <a:rPr sz="5400" b="1">
                <a:latin typeface="Microsoft YaHei"/>
                <a:ea typeface="Microsoft YaHei"/>
                <a:cs typeface="Microsoft YaHei"/>
              </a:rPr>
              <a:t>HTML 演示文稿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48684" y="3895378"/>
            <a:ext cx="4291584" cy="4768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32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        从提示词到精美演示，秒速完成。</a:t>
            </a:r>
          </a:p>
          <a:p>
            <a:pPr algn="ctr">
              <a:lnSpc>
                <a:spcPct val="160000"/>
              </a:lnSpc>
            </a:pPr>
            <a:r>
              <a:rPr sz="132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零依赖。浏览器原生。无限编辑。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9558" y="4609288"/>
            <a:ext cx="915077" cy="910605"/>
          </a:xfrm>
          <a:prstGeom prst="roundRect">
            <a:avLst>
              <a:gd name="adj" fmla="val 11157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81225" y="4744754"/>
            <a:ext cx="508677" cy="37921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sz="3360" b="1"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6625" y="5169686"/>
            <a:ext cx="432477" cy="1690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60000"/>
              </a:lnSpc>
            </a:pPr>
            <a:r>
              <a:rPr sz="94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设计预设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03139" y="4609288"/>
            <a:ext cx="706458" cy="910605"/>
          </a:xfrm>
          <a:prstGeom prst="roundRect">
            <a:avLst>
              <a:gd name="adj" fmla="val 14381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14806" y="4744754"/>
            <a:ext cx="300058" cy="37921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sz="3360" b="1"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3451" y="5169686"/>
            <a:ext cx="302768" cy="1690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60000"/>
              </a:lnSpc>
            </a:pPr>
            <a:r>
              <a:rPr sz="94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依赖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28102" y="4609288"/>
            <a:ext cx="991290" cy="910605"/>
          </a:xfrm>
          <a:prstGeom prst="roundRect">
            <a:avLst>
              <a:gd name="adj" fmla="val 11157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2185" y="4744754"/>
            <a:ext cx="300058" cy="37921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sz="3360" b="1"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5168" y="5169686"/>
            <a:ext cx="508690" cy="1690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60000"/>
              </a:lnSpc>
            </a:pPr>
            <a:r>
              <a:rPr sz="94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HTML 文件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01 / 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2542" y="7362952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473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658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844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029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214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400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58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77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95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9FF"/>
            </a:gs>
            <a:gs pos="100000">
              <a:srgbClr val="E0F2F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53809" y="1951945"/>
            <a:ext cx="1694179" cy="167940"/>
          </a:xfrm>
          <a:prstGeom prst="roundRect">
            <a:avLst>
              <a:gd name="adj" fmla="val 50000"/>
            </a:avLst>
          </a:prstGeom>
          <a:solidFill>
            <a:srgbClr val="DBEA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53809" y="1951945"/>
            <a:ext cx="1694179" cy="167940"/>
          </a:xfrm>
          <a:prstGeom prst="rect">
            <a:avLst/>
          </a:prstGeom>
          <a:noFill/>
        </p:spPr>
        <p:txBody>
          <a:bodyPr wrap="none" lIns="118533" rIns="118533" tIns="33866" bIns="33866">
            <a:normAutofit/>
          </a:bodyPr>
          <a:lstStyle/>
          <a:p>
            <a:pPr>
              <a:lnSpc>
                <a:spcPct val="120000"/>
              </a:lnSpc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为什么选择 slide-creator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3809" y="2239812"/>
            <a:ext cx="7281333" cy="42265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3120" b="1">
                <a:latin typeface="Microsoft YaHei"/>
                <a:ea typeface="Microsoft YaHei"/>
                <a:cs typeface="Microsoft YaHei"/>
              </a:rPr>
              <a:t>传统工具限制了你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53809" y="2781340"/>
            <a:ext cx="474133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20852" y="2925273"/>
            <a:ext cx="169333" cy="2098433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54719" y="2925273"/>
            <a:ext cx="3572040" cy="2098433"/>
          </a:xfrm>
          <a:prstGeom prst="roundRect">
            <a:avLst>
              <a:gd name="adj" fmla="val 4841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1786" y="3111540"/>
            <a:ext cx="3131773" cy="26653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44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❌ 传统方法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1786" y="3462738"/>
            <a:ext cx="31317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从空白幻灯片开始——结构是你的问题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1786" y="3749532"/>
            <a:ext cx="31317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花费数小时调整字体、对齐和颜色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1786" y="4036326"/>
            <a:ext cx="31317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PPTX 在其他机器上字体丢失、布局错乱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1786" y="4323119"/>
            <a:ext cx="31317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分享意味着邮件附件或上传到网盘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1786" y="4609913"/>
            <a:ext cx="31317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图表是静态图片——更新数据，重做一遍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8325" y="2925273"/>
            <a:ext cx="169333" cy="2098433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62192" y="2925273"/>
            <a:ext cx="3572040" cy="2098433"/>
          </a:xfrm>
          <a:prstGeom prst="roundRect">
            <a:avLst>
              <a:gd name="adj" fmla="val 4841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9259" y="3111540"/>
            <a:ext cx="3131773" cy="26653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440" b="1">
                <a:solidFill>
                  <a:srgbClr val="065F46"/>
                </a:solidFill>
                <a:latin typeface="Microsoft YaHei"/>
                <a:ea typeface="Microsoft YaHei"/>
                <a:cs typeface="Microsoft YaHei"/>
              </a:rPr>
              <a:t>✓ slide-creator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9259" y="3462738"/>
            <a:ext cx="31317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描述你的主题——AI 规划结构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9259" y="3749532"/>
            <a:ext cx="31317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21 种设计预设，自动匹配内容类型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9259" y="4036326"/>
            <a:ext cx="3131773" cy="2275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单个 HTML 文件，在任何地方呈现完全相同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9259" y="4323119"/>
            <a:ext cx="31317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分享 URL 或打开文件——无需账户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9259" y="4609913"/>
            <a:ext cx="31317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来自内联数据的实时图表，秒速更新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19942" y="5279739"/>
            <a:ext cx="169333" cy="58837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453809" y="5279739"/>
            <a:ext cx="7552266" cy="588370"/>
          </a:xfrm>
          <a:prstGeom prst="roundRect">
            <a:avLst>
              <a:gd name="adj" fmla="val 17268"/>
            </a:avLst>
          </a:prstGeom>
          <a:solidFill>
            <a:srgbClr val="E1EEFD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53809" y="5279739"/>
            <a:ext cx="7281333" cy="385267"/>
          </a:xfrm>
          <a:prstGeom prst="rect">
            <a:avLst/>
          </a:prstGeom>
          <a:noFill/>
        </p:spPr>
        <p:txBody>
          <a:bodyPr wrap="square" lIns="135466" rIns="135466" tIns="101600" bIns="101600">
            <a:spAutoFit/>
          </a:bodyPr>
          <a:lstStyle/>
          <a:p>
            <a:pPr>
              <a:lnSpc>
                <a:spcPct val="160000"/>
              </a:lnSpc>
            </a:pPr>
            <a:r>
              <a:rPr sz="101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设计原则：</a:t>
            </a:r>
            <a:r>
              <a:rPr sz="101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你拥有内容。AI 拥有结构和视觉表现。没有提供的数字永远不会被编造——只是 </a:t>
            </a:r>
            <a:r>
              <a:rPr sz="1010" b="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[数据待填写]</a:t>
            </a:r>
            <a:r>
              <a:rPr sz="101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 占位符。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02 / 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2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61076" y="7362952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658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844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029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214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400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58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77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95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9FF"/>
            </a:gs>
            <a:gs pos="100000">
              <a:srgbClr val="E0F2F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23142" y="1365955"/>
            <a:ext cx="560832" cy="167940"/>
          </a:xfrm>
          <a:prstGeom prst="roundRect">
            <a:avLst>
              <a:gd name="adj" fmla="val 50000"/>
            </a:avLst>
          </a:prstGeom>
          <a:solidFill>
            <a:srgbClr val="DBEA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623142" y="1365955"/>
            <a:ext cx="560832" cy="167940"/>
          </a:xfrm>
          <a:prstGeom prst="rect">
            <a:avLst/>
          </a:prstGeom>
          <a:noFill/>
        </p:spPr>
        <p:txBody>
          <a:bodyPr wrap="none" lIns="118533" rIns="118533" tIns="33866" bIns="33866">
            <a:normAutofit/>
          </a:bodyPr>
          <a:lstStyle/>
          <a:p>
            <a:pPr>
              <a:lnSpc>
                <a:spcPct val="120000"/>
              </a:lnSpc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23142" y="1653822"/>
            <a:ext cx="6942666" cy="42265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3120" b="1">
                <a:latin typeface="Microsoft YaHei"/>
                <a:ea typeface="Microsoft YaHei"/>
                <a:cs typeface="Microsoft YaHei"/>
              </a:rPr>
              <a:t>从想法到演示的三步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23142" y="2195350"/>
            <a:ext cx="474133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24010" y="2339283"/>
            <a:ext cx="3411213" cy="1371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114" y="2522163"/>
            <a:ext cx="157005" cy="13716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727" y="2339283"/>
            <a:ext cx="3411213" cy="26653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440" b="1">
                <a:latin typeface="Microsoft YaHei"/>
                <a:ea typeface="Microsoft YaHei"/>
                <a:cs typeface="Microsoft YaHei"/>
              </a:rPr>
              <a:t>描述你的主题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3727" y="2639681"/>
            <a:ext cx="3411213" cy="6825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告诉 slide-creator 你想呈现什么——受众、目标、核心信息。纯中文或英文。无需特殊格式。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727" y="3367983"/>
            <a:ext cx="3411213" cy="358084"/>
          </a:xfrm>
          <a:prstGeom prst="roundRect">
            <a:avLst>
              <a:gd name="adj" fmla="val 28373"/>
            </a:avLst>
          </a:prstGeom>
          <a:solidFill>
            <a:srgbClr val="E2EBF2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4440" y="3771787"/>
            <a:ext cx="3309789" cy="358084"/>
          </a:xfrm>
          <a:prstGeom prst="rect">
            <a:avLst/>
          </a:prstGeom>
          <a:noFill/>
        </p:spPr>
        <p:txBody>
          <a:bodyPr wrap="square" lIns="135466" rIns="135466" tIns="84666" bIns="84666">
            <a:spAutoFit/>
          </a:bodyPr>
          <a:lstStyle/>
          <a:p>
            <a:pPr>
              <a:lnSpc>
                <a:spcPct val="120000"/>
              </a:lnSpc>
            </a:pPr>
            <a:r>
              <a:rPr sz="1019" b="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/slide "季度业务审查，面向领导层——重点关注增长和留存"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24010" y="4385903"/>
            <a:ext cx="3411213" cy="1371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114" y="4568783"/>
            <a:ext cx="157005" cy="13716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727" y="4385903"/>
            <a:ext cx="3411213" cy="26653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440" b="1">
                <a:latin typeface="Microsoft YaHei"/>
                <a:ea typeface="Microsoft YaHei"/>
                <a:cs typeface="Microsoft YaHei"/>
              </a:rPr>
              <a:t xml:space="preserve">审查计划 </a:t>
            </a:r>
            <a:r>
              <a:rPr sz="144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（可选）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727" y="4686302"/>
            <a:ext cx="3411213" cy="4550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用 </a:t>
            </a:r>
            <a:r>
              <a:rPr sz="1260" b="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--plan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 先获得结构化大纲文件。编辑它，然后在准备好时运行 </a:t>
            </a:r>
            <a:r>
              <a:rPr sz="1260" b="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--generate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。你掌控叙述。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24010" y="5397388"/>
            <a:ext cx="3411213" cy="1371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114" y="5580268"/>
            <a:ext cx="157005" cy="13716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727" y="5397388"/>
            <a:ext cx="3411213" cy="13716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440" b="1">
                <a:latin typeface="Microsoft YaHei"/>
                <a:ea typeface="Microsoft YaHei"/>
                <a:cs typeface="Microsoft YaHei"/>
              </a:rPr>
              <a:t>在浏览器中打开——完成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727" y="5568415"/>
            <a:ext cx="3411213" cy="6825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单个自包含的 HTML 文件。内置键盘导航、触摸滑动、全屏和编辑模式。无需安装，无需服务器。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03 / 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2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561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79609" y="7362952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844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029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214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400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8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77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95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9FF"/>
            </a:gs>
            <a:gs pos="100000">
              <a:srgbClr val="E0F2F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16137" y="1628997"/>
            <a:ext cx="3919086" cy="8451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3120" b="1">
                <a:latin typeface="Microsoft YaHei"/>
                <a:ea typeface="Microsoft YaHei"/>
                <a:cs typeface="Microsoft YaHei"/>
              </a:rPr>
              <a:t>21 种设计预设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41590" y="1628997"/>
            <a:ext cx="3919086" cy="234298"/>
          </a:xfrm>
          <a:prstGeom prst="roundRect">
            <a:avLst>
              <a:gd name="adj" fmla="val 50000"/>
            </a:avLst>
          </a:prstGeom>
          <a:solidFill>
            <a:srgbClr val="DBEA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0351" y="1909016"/>
            <a:ext cx="1005840" cy="234298"/>
          </a:xfrm>
          <a:prstGeom prst="rect">
            <a:avLst/>
          </a:prstGeom>
          <a:noFill/>
        </p:spPr>
        <p:txBody>
          <a:bodyPr wrap="none" lIns="118533" rIns="118533" tIns="33866" bIns="33866">
            <a:normAutofit/>
          </a:bodyPr>
          <a:lstStyle/>
          <a:p>
            <a:pPr>
              <a:lnSpc>
                <a:spcPct val="120000"/>
              </a:lnSpc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按内容类型自动匹配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15142" y="2730130"/>
            <a:ext cx="474133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16137" y="2874063"/>
            <a:ext cx="1925685" cy="851556"/>
          </a:xfrm>
          <a:prstGeom prst="roundRect">
            <a:avLst>
              <a:gd name="adj" fmla="val 11931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31263"/>
            <a:ext cx="11274552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55540" y="3009530"/>
            <a:ext cx="4263813" cy="333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Bold SignalElectric StudioCreative VoltageDark Botanical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7004" y="3388415"/>
            <a:ext cx="1612418" cy="15601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演讲 · 品牌 · 技术分享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26468" y="2874063"/>
            <a:ext cx="1925685" cy="962611"/>
          </a:xfrm>
          <a:prstGeom prst="roundRect">
            <a:avLst>
              <a:gd name="adj" fmla="val 10554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31263"/>
            <a:ext cx="11274552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2495124" y="3009530"/>
            <a:ext cx="5205306" cy="444219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0C4A6E"/>
                </a:solidFill>
                <a:latin typeface="Microsoft YaHei"/>
                <a:ea typeface="Microsoft YaHei"/>
                <a:cs typeface="Microsoft YaHei"/>
              </a:rPr>
              <a:t xml:space="preserve">Blue Sky </a:t>
            </a:r>
            <a:r>
              <a:rPr sz="1200" b="1">
                <a:solidFill>
                  <a:srgbClr val="065F46"/>
                </a:solidFill>
                <a:latin typeface="Microsoft YaHei"/>
                <a:ea typeface="Microsoft YaHei"/>
                <a:cs typeface="Microsoft YaHei"/>
              </a:rPr>
              <a:t>当前</a:t>
            </a:r>
            <a:r>
              <a:rPr sz="1200" b="0">
                <a:solidFill>
                  <a:srgbClr val="0C4A6E"/>
                </a:solidFill>
                <a:latin typeface="Microsoft YaHei"/>
                <a:ea typeface="Microsoft YaHei"/>
                <a:cs typeface="Microsoft YaHei"/>
              </a:rPr>
              <a:t>Notebook TabsPastel GeometrySplit PastelVintage Editorial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7334" y="3499469"/>
            <a:ext cx="1612418" cy="15601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教育 · 内部 · 创意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4661" y="2874063"/>
            <a:ext cx="1925685" cy="851556"/>
          </a:xfrm>
          <a:prstGeom prst="roundRect">
            <a:avLst>
              <a:gd name="adj" fmla="val 11931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31263"/>
            <a:ext cx="11274552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311481" y="3009530"/>
            <a:ext cx="3593253" cy="333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C1D95"/>
                </a:solidFill>
                <a:latin typeface="Microsoft YaHei"/>
                <a:ea typeface="Microsoft YaHei"/>
                <a:cs typeface="Microsoft YaHei"/>
              </a:rPr>
              <a:t>Neon CyberTerminal GreenSwiss ModernPaper &amp; 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528" y="3388415"/>
            <a:ext cx="1612418" cy="15601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开发 · 学术 · 极简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129" y="2874063"/>
            <a:ext cx="1925685" cy="982982"/>
          </a:xfrm>
          <a:prstGeom prst="roundRect">
            <a:avLst>
              <a:gd name="adj" fmla="val 10335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31263"/>
            <a:ext cx="11274552" cy="196596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235625" y="3009530"/>
            <a:ext cx="6953326" cy="666329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Aurora MeshEnterprise DarkGlassmorphismNeo-BrutalismChinese ChanData StoryModern NewspaperNeo-Retro Dev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81275" y="5553255"/>
            <a:ext cx="169333" cy="43469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15142" y="5553255"/>
            <a:ext cx="7958666" cy="434698"/>
          </a:xfrm>
          <a:prstGeom prst="roundRect">
            <a:avLst>
              <a:gd name="adj" fmla="val 23372"/>
            </a:avLst>
          </a:prstGeom>
          <a:solidFill>
            <a:srgbClr val="E1EEFD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15142" y="5553255"/>
            <a:ext cx="7958666" cy="434698"/>
          </a:xfrm>
          <a:prstGeom prst="rect">
            <a:avLst/>
          </a:prstGeom>
          <a:noFill/>
        </p:spPr>
        <p:txBody>
          <a:bodyPr wrap="square" lIns="118533" rIns="118533" tIns="76200" bIns="76200">
            <a:spAutoFit/>
          </a:bodyPr>
          <a:lstStyle/>
          <a:p>
            <a:pPr>
              <a:lnSpc>
                <a:spcPct val="160000"/>
              </a:lnSpc>
            </a:pPr>
            <a:r>
              <a:rPr sz="101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        每种预设都有完整的 CSS 视觉系统——不是简单换色。内容类型路由自动推荐最佳匹配。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04 / 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2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561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79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798142" y="7362952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029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214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400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58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77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95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74902" y="2674620"/>
            <a:ext cx="1639146" cy="149013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200" b="1">
                <a:solidFill>
                  <a:srgbClr val="DEE7F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3942" y="4029286"/>
            <a:ext cx="1761066" cy="42265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3120" b="1">
                <a:latin typeface="Microsoft YaHei"/>
                <a:ea typeface="Microsoft YaHei"/>
                <a:cs typeface="Microsoft YaHei"/>
              </a:rPr>
              <a:t>工程化能力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7409" y="4570814"/>
            <a:ext cx="474133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93970" y="4714748"/>
            <a:ext cx="2401011" cy="227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播放、编辑、Review —— 全流程闭环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05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2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61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79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81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16676" y="7362952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214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400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58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77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95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9FF"/>
            </a:gs>
            <a:gs pos="100000">
              <a:srgbClr val="E0F2F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53809" y="1288459"/>
            <a:ext cx="443991" cy="167940"/>
          </a:xfrm>
          <a:prstGeom prst="roundRect">
            <a:avLst>
              <a:gd name="adj" fmla="val 50000"/>
            </a:avLst>
          </a:prstGeom>
          <a:solidFill>
            <a:srgbClr val="DBEA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53809" y="1288459"/>
            <a:ext cx="443991" cy="167940"/>
          </a:xfrm>
          <a:prstGeom prst="rect">
            <a:avLst/>
          </a:prstGeom>
          <a:noFill/>
        </p:spPr>
        <p:txBody>
          <a:bodyPr wrap="none" lIns="118533" rIns="118533" tIns="33866" bIns="33866">
            <a:normAutofit/>
          </a:bodyPr>
          <a:lstStyle/>
          <a:p>
            <a:pPr>
              <a:lnSpc>
                <a:spcPct val="120000"/>
              </a:lnSpc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3809" y="1576325"/>
            <a:ext cx="7281333" cy="42265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3120" b="1">
                <a:latin typeface="Microsoft YaHei"/>
                <a:ea typeface="Microsoft YaHei"/>
                <a:cs typeface="Microsoft YaHei"/>
              </a:rPr>
              <a:t>编辑模式 —— 立即修复任何内容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53809" y="2117853"/>
            <a:ext cx="474133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18987"/>
            <a:ext cx="11274552" cy="990767"/>
          </a:xfrm>
          <a:prstGeom prst="rect">
            <a:avLst/>
          </a:prstGeom>
          <a:noFill/>
        </p:spPr>
        <p:txBody>
          <a:bodyPr wrap="none" lIns="152400" rIns="152400" tIns="118533" bIns="118533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57200" y="2718987"/>
            <a:ext cx="11274552" cy="892612"/>
          </a:xfrm>
          <a:prstGeom prst="rect">
            <a:avLst/>
          </a:prstGeom>
          <a:noFill/>
        </p:spPr>
        <p:txBody>
          <a:bodyPr wrap="none" lIns="152400" rIns="152400" tIns="118533" bIns="118533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2718987"/>
            <a:ext cx="11274552" cy="990767"/>
          </a:xfrm>
          <a:prstGeom prst="rect">
            <a:avLst/>
          </a:prstGeom>
          <a:noFill/>
        </p:spPr>
        <p:txBody>
          <a:bodyPr wrap="none" lIns="152400" rIns="152400" tIns="118533" bIns="118533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289192" y="2388787"/>
            <a:ext cx="3318040" cy="914400"/>
          </a:xfrm>
          <a:prstGeom prst="roundRect">
            <a:avLst>
              <a:gd name="adj" fmla="val 11111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48492" y="3348907"/>
            <a:ext cx="599440" cy="172676"/>
          </a:xfrm>
          <a:prstGeom prst="rect">
            <a:avLst/>
          </a:prstGeom>
          <a:noFill/>
        </p:spPr>
        <p:txBody>
          <a:bodyPr wrap="none" lIns="67733" rIns="67733" tIns="16933" bIns="16933">
            <a:normAutofit/>
          </a:bodyPr>
          <a:lstStyle/>
          <a:p>
            <a:pPr>
              <a:lnSpc>
                <a:spcPct val="120000"/>
              </a:lnSpc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编辑模式激活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9192" y="3567304"/>
            <a:ext cx="3318040" cy="167124"/>
          </a:xfrm>
          <a:prstGeom prst="rect">
            <a:avLst/>
          </a:prstGeom>
          <a:noFill/>
        </p:spPr>
        <p:txBody>
          <a:bodyPr wrap="none" lIns="33866" rIns="33866" tIns="16933" bIns="16933">
            <a:normAutofit/>
          </a:bodyPr>
          <a:lstStyle/>
          <a:p>
            <a:pPr>
              <a:lnSpc>
                <a:spcPct val="120000"/>
              </a:lnSpc>
            </a:pPr>
            <a:r>
              <a:rPr sz="1440" b="1">
                <a:latin typeface="Microsoft YaHei"/>
                <a:ea typeface="Microsoft YaHei"/>
                <a:cs typeface="Microsoft YaHei"/>
              </a:rPr>
              <a:t>此标题可编辑 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9192" y="3802161"/>
            <a:ext cx="3318040" cy="228475"/>
          </a:xfrm>
          <a:prstGeom prst="rect">
            <a:avLst/>
          </a:prstGeom>
          <a:noFill/>
        </p:spPr>
        <p:txBody>
          <a:bodyPr wrap="none" lIns="50800" rIns="50800" tIns="25400" bIns="25400">
            <a:normAutofit/>
          </a:bodyPr>
          <a:lstStyle/>
          <a:p>
            <a:pPr>
              <a:lnSpc>
                <a:spcPct val="160000"/>
              </a:lnSpc>
            </a:pPr>
            <a:r>
              <a:rPr sz="98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此段落也可以。点击任何高亮元素开始输入。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9192" y="4076356"/>
            <a:ext cx="3318040" cy="488912"/>
          </a:xfrm>
          <a:prstGeom prst="rect">
            <a:avLst/>
          </a:prstGeom>
          <a:noFill/>
        </p:spPr>
        <p:txBody>
          <a:bodyPr wrap="none" lIns="50800" rIns="50800" tIns="16933" bIns="16933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列表项可编辑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9192" y="4624535"/>
            <a:ext cx="3318040" cy="261385"/>
          </a:xfrm>
          <a:prstGeom prst="rect">
            <a:avLst/>
          </a:prstGeom>
          <a:noFill/>
        </p:spPr>
        <p:txBody>
          <a:bodyPr wrap="none" lIns="50800" rIns="50800" tIns="16933" bIns="16933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统计数据、标签、标注 —— 一切都可以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5325" y="4945187"/>
            <a:ext cx="169333" cy="7703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9192" y="4945187"/>
            <a:ext cx="3318040" cy="770392"/>
          </a:xfrm>
          <a:prstGeom prst="roundRect">
            <a:avLst>
              <a:gd name="adj" fmla="val 13188"/>
            </a:avLst>
          </a:prstGeom>
          <a:solidFill>
            <a:srgbClr val="E1EEFD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0441" y="5761300"/>
            <a:ext cx="3755542" cy="567192"/>
          </a:xfrm>
          <a:prstGeom prst="rect">
            <a:avLst/>
          </a:prstGeom>
          <a:noFill/>
        </p:spPr>
        <p:txBody>
          <a:bodyPr wrap="square" lIns="135466" rIns="135466" tIns="101600" bIns="101600">
            <a:spAutoFit/>
          </a:bodyPr>
          <a:lstStyle/>
          <a:p>
            <a:pPr>
              <a:lnSpc>
                <a:spcPct val="160000"/>
              </a:lnSpc>
            </a:pPr>
            <a:r>
              <a:rPr sz="101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            现在试试 —— 按 E 或点击右上角 </a:t>
            </a:r>
            <a:r>
              <a:rPr sz="101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✏ 编辑</a:t>
            </a:r>
            <a:r>
              <a:rPr sz="101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，然后点击本页面上任何文本。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06 /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2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61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79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981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166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35209" y="7362952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400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58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77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95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9FF"/>
            </a:gs>
            <a:gs pos="100000">
              <a:srgbClr val="E0F2F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38476" y="1955207"/>
            <a:ext cx="443991" cy="167940"/>
          </a:xfrm>
          <a:prstGeom prst="roundRect">
            <a:avLst>
              <a:gd name="adj" fmla="val 50000"/>
            </a:avLst>
          </a:prstGeom>
          <a:solidFill>
            <a:srgbClr val="DBEA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38476" y="1955207"/>
            <a:ext cx="443991" cy="167940"/>
          </a:xfrm>
          <a:prstGeom prst="rect">
            <a:avLst/>
          </a:prstGeom>
          <a:noFill/>
        </p:spPr>
        <p:txBody>
          <a:bodyPr wrap="none" lIns="118533" rIns="118533" tIns="33866" bIns="33866">
            <a:normAutofit/>
          </a:bodyPr>
          <a:lstStyle/>
          <a:p>
            <a:pPr>
              <a:lnSpc>
                <a:spcPct val="120000"/>
              </a:lnSpc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38476" y="2243074"/>
            <a:ext cx="7112000" cy="42265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3120" b="1">
                <a:latin typeface="Microsoft YaHei"/>
                <a:ea typeface="Microsoft YaHei"/>
                <a:cs typeface="Microsoft YaHei"/>
              </a:rPr>
              <a:t>演示模式 —— 自由导航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8476" y="2784602"/>
            <a:ext cx="474133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31678" y="3055535"/>
            <a:ext cx="302768" cy="13732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30000"/>
              </a:lnSpc>
            </a:pPr>
            <a:r>
              <a:rPr sz="94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导航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66364" y="3238584"/>
            <a:ext cx="3233394" cy="914400"/>
          </a:xfrm>
          <a:prstGeom prst="roundRect">
            <a:avLst>
              <a:gd name="adj" fmla="val 11111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39365" y="4198704"/>
            <a:ext cx="1634390" cy="243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→Space↓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3755" y="4198704"/>
            <a:ext cx="1853003" cy="243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下一个幻灯片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39365" y="4442544"/>
            <a:ext cx="1634390" cy="243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←↑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3755" y="4442544"/>
            <a:ext cx="1853003" cy="243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上一个幻灯片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39365" y="4686384"/>
            <a:ext cx="1634390" cy="243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Home / 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3755" y="4686384"/>
            <a:ext cx="1853003" cy="243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首/末幻灯片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39365" y="4930224"/>
            <a:ext cx="1634390" cy="243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F5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3755" y="4930224"/>
            <a:ext cx="1853003" cy="243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全屏演示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39365" y="5174064"/>
            <a:ext cx="1634390" cy="243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3755" y="5174064"/>
            <a:ext cx="1853003" cy="243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演讲者窗口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39365" y="5417904"/>
            <a:ext cx="1634390" cy="243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滑动 ←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73755" y="5417904"/>
            <a:ext cx="1853003" cy="243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触摸导航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2192" y="2928535"/>
            <a:ext cx="3487394" cy="13732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30000"/>
              </a:lnSpc>
            </a:pPr>
            <a:r>
              <a:rPr sz="94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演讲者窗口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385735"/>
            <a:ext cx="11274552" cy="672230"/>
          </a:xfrm>
          <a:prstGeom prst="rect">
            <a:avLst/>
          </a:prstGeom>
          <a:noFill/>
        </p:spPr>
        <p:txBody>
          <a:bodyPr wrap="none" lIns="152400" rIns="152400" tIns="118533" bIns="118533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57200" y="3385735"/>
            <a:ext cx="11274552" cy="672230"/>
          </a:xfrm>
          <a:prstGeom prst="rect">
            <a:avLst/>
          </a:prstGeom>
          <a:noFill/>
        </p:spPr>
        <p:txBody>
          <a:bodyPr wrap="none" lIns="152400" rIns="152400" tIns="118533" bIns="118533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57200" y="3385735"/>
            <a:ext cx="11274552" cy="854251"/>
          </a:xfrm>
          <a:prstGeom prst="rect">
            <a:avLst/>
          </a:prstGeom>
          <a:noFill/>
        </p:spPr>
        <p:txBody>
          <a:bodyPr wrap="none" lIns="152400" rIns="152400" tIns="118533" bIns="118533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07 / 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2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561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79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7981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166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352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53742" y="7362952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58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77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95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9FF"/>
            </a:gs>
            <a:gs pos="100000">
              <a:srgbClr val="E0F2F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369142" y="1817587"/>
            <a:ext cx="829564" cy="167940"/>
          </a:xfrm>
          <a:prstGeom prst="roundRect">
            <a:avLst>
              <a:gd name="adj" fmla="val 50000"/>
            </a:avLst>
          </a:prstGeom>
          <a:solidFill>
            <a:srgbClr val="DBEA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69142" y="1817587"/>
            <a:ext cx="829564" cy="167940"/>
          </a:xfrm>
          <a:prstGeom prst="rect">
            <a:avLst/>
          </a:prstGeom>
          <a:noFill/>
        </p:spPr>
        <p:txBody>
          <a:bodyPr wrap="none" lIns="118533" rIns="118533" tIns="33866" bIns="33866">
            <a:normAutofit/>
          </a:bodyPr>
          <a:lstStyle/>
          <a:p>
            <a:pPr>
              <a:lnSpc>
                <a:spcPct val="120000"/>
              </a:lnSpc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v2.12 新增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9142" y="2071587"/>
            <a:ext cx="7450666" cy="42265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3120" b="1">
                <a:latin typeface="Microsoft YaHei"/>
                <a:ea typeface="Microsoft YaHei"/>
                <a:cs typeface="Microsoft YaHei"/>
              </a:rPr>
              <a:t>15 项生成前校验，零容忍违规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69142" y="2613115"/>
            <a:ext cx="474133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70074" y="2757048"/>
            <a:ext cx="3656685" cy="2048933"/>
          </a:xfrm>
          <a:prstGeom prst="roundRect">
            <a:avLst>
              <a:gd name="adj" fmla="val 4958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81740" y="2926382"/>
            <a:ext cx="3241818" cy="26416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30000"/>
              </a:lnSpc>
            </a:pPr>
            <a:r>
              <a:rPr sz="1800" b="1">
                <a:latin typeface="Microsoft YaHei"/>
                <a:ea typeface="Microsoft YaHei"/>
                <a:cs typeface="Microsoft YaHei"/>
              </a:rPr>
              <a:t>核心 8 项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0074" y="3275208"/>
            <a:ext cx="1435753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内容密度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3805827" y="3275208"/>
            <a:ext cx="2220931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≥ 65% 填充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0074" y="3502115"/>
            <a:ext cx="1435753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列平衡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5827" y="3502115"/>
            <a:ext cx="2220931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最短列 ≥ 60%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0074" y="3729022"/>
            <a:ext cx="1435753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标题换行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05827" y="3729022"/>
            <a:ext cx="2220931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≤ 3 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0074" y="3955928"/>
            <a:ext cx="1435753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标题质量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05827" y="3955928"/>
            <a:ext cx="2220931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断言式，非通用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0074" y="4182835"/>
            <a:ext cx="1435753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布局轮换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05827" y="4182835"/>
            <a:ext cx="2220931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禁止连续 3 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0074" y="4409742"/>
            <a:ext cx="1435753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色彩律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05827" y="4409742"/>
            <a:ext cx="2220931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90/8/2 分配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2192" y="2757048"/>
            <a:ext cx="3656685" cy="2048867"/>
          </a:xfrm>
          <a:prstGeom prst="roundRect">
            <a:avLst>
              <a:gd name="adj" fmla="val 4958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859" y="2926382"/>
            <a:ext cx="3241818" cy="26409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30000"/>
              </a:lnSpc>
            </a:pPr>
            <a:r>
              <a:rPr sz="1800" b="1">
                <a:latin typeface="Microsoft YaHei"/>
                <a:ea typeface="Microsoft YaHei"/>
                <a:cs typeface="Microsoft YaHei"/>
              </a:rPr>
              <a:t>视觉硬规则（新增 7 项）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2192" y="3275142"/>
            <a:ext cx="1858694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U+FE0F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0887" y="3275142"/>
            <a:ext cx="1797990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零容忍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2192" y="3502049"/>
            <a:ext cx="1858694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letter-spacing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20887" y="3502049"/>
            <a:ext cx="1797990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正文 ≤ 0.05em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2192" y="3728956"/>
            <a:ext cx="1858694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纯黑背景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20887" y="3728956"/>
            <a:ext cx="1797990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 #111 替代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62192" y="3955862"/>
            <a:ext cx="1858694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bounce easing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20887" y="3955862"/>
            <a:ext cx="1797990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禁用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2192" y="4182769"/>
            <a:ext cx="1858694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嵌套卡片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20887" y="4182769"/>
            <a:ext cx="1797990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扁平化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62192" y="4409676"/>
            <a:ext cx="1858694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padding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20887" y="4409676"/>
            <a:ext cx="1797990" cy="2269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≥ 0.75rem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35275" y="5062014"/>
            <a:ext cx="169333" cy="737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369142" y="5062014"/>
            <a:ext cx="7450666" cy="737350"/>
          </a:xfrm>
          <a:prstGeom prst="roundRect">
            <a:avLst>
              <a:gd name="adj" fmla="val 13779"/>
            </a:avLst>
          </a:prstGeom>
          <a:solidFill>
            <a:srgbClr val="E1EEFD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69142" y="5062014"/>
            <a:ext cx="7450666" cy="737350"/>
          </a:xfrm>
          <a:prstGeom prst="rect">
            <a:avLst/>
          </a:prstGeom>
          <a:noFill/>
        </p:spPr>
        <p:txBody>
          <a:bodyPr wrap="square" lIns="135466" rIns="135466" tIns="101600" bIns="101600">
            <a:spAutoFit/>
          </a:bodyPr>
          <a:lstStyle/>
          <a:p>
            <a:pPr>
              <a:lnSpc>
                <a:spcPct val="160000"/>
              </a:lnSpc>
            </a:pPr>
            <a:r>
              <a:rPr sz="101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        源自 </a:t>
            </a:r>
            <a:r>
              <a:rPr sz="101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Impeccable Anti-Patterns</a:t>
            </a:r>
            <a:r>
              <a:rPr sz="101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（37 个视觉反模式），筛选适用于幻灯片的子集。组装 HTML 后逐条扫描、自动修复、再写入。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08 / 10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42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561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79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7981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9166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2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1537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72276" y="7362952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77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695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9FF"/>
            </a:gs>
            <a:gs pos="100000">
              <a:srgbClr val="E0F2F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53809" y="1760506"/>
            <a:ext cx="677671" cy="167940"/>
          </a:xfrm>
          <a:prstGeom prst="roundRect">
            <a:avLst>
              <a:gd name="adj" fmla="val 50000"/>
            </a:avLst>
          </a:prstGeom>
          <a:solidFill>
            <a:srgbClr val="DBEA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53809" y="1760506"/>
            <a:ext cx="677671" cy="167940"/>
          </a:xfrm>
          <a:prstGeom prst="rect">
            <a:avLst/>
          </a:prstGeom>
          <a:noFill/>
        </p:spPr>
        <p:txBody>
          <a:bodyPr wrap="none" lIns="118533" rIns="118533" tIns="33866" bIns="33866">
            <a:normAutofit/>
          </a:bodyPr>
          <a:lstStyle/>
          <a:p>
            <a:pPr>
              <a:lnSpc>
                <a:spcPct val="120000"/>
              </a:lnSpc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精修模式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3809" y="2048373"/>
            <a:ext cx="7281333" cy="42265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3120" b="1">
                <a:latin typeface="Microsoft YaHei"/>
                <a:ea typeface="Microsoft YaHei"/>
                <a:cs typeface="Microsoft YaHei"/>
              </a:rPr>
              <a:t>16 项 Review 检查点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53809" y="2589901"/>
            <a:ext cx="474133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54719" y="2733834"/>
            <a:ext cx="3572040" cy="2365856"/>
          </a:xfrm>
          <a:prstGeom prst="roundRect">
            <a:avLst>
              <a:gd name="adj" fmla="val 4294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66386" y="2903167"/>
            <a:ext cx="3157173" cy="26409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30000"/>
              </a:lnSpc>
            </a:pPr>
            <a:r>
              <a:rPr sz="1800" b="1">
                <a:latin typeface="Microsoft YaHei"/>
                <a:ea typeface="Microsoft YaHei"/>
                <a:cs typeface="Microsoft YaHei"/>
              </a:rPr>
              <a:t>自动检测（6 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6386" y="3268861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视角翻转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——从"我/我们"到"你/你们"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6386" y="3555655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结论先行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——标题是断言，不是名词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6386" y="3842449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三概念法则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——单页新概念 ≤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6386" y="4129243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禁止连续密集页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——3+ 同布局打断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6386" y="4416037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字号底线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——正文不低于可读阈值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6386" y="4702830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眯眼测试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——明确的视觉焦点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2192" y="2733834"/>
            <a:ext cx="3572040" cy="2365856"/>
          </a:xfrm>
          <a:prstGeom prst="roundRect">
            <a:avLst>
              <a:gd name="adj" fmla="val 4294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859" y="2903167"/>
            <a:ext cx="3157173" cy="26409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30000"/>
              </a:lnSpc>
            </a:pPr>
            <a:r>
              <a:rPr sz="1800" b="1">
                <a:latin typeface="Microsoft YaHei"/>
                <a:ea typeface="Microsoft YaHei"/>
                <a:cs typeface="Microsoft YaHei"/>
              </a:rPr>
              <a:t>AI 建议（10 项）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859" y="3268861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痛点前置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——前 2 页有具体场景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859" y="3555655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量化承诺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——前 3 页有数字收益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859" y="3842449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MECE 原则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——分类不重叠不遗漏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859" y="4129243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奥卡姆剃刀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——每页服务核心目标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859" y="4416037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10 分钟注意力重置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——案例/提问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859" y="4702830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留白缓冲页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——每 5-6 页呼吸页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19942" y="5355723"/>
            <a:ext cx="169333" cy="50072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453809" y="5355723"/>
            <a:ext cx="7281333" cy="500722"/>
          </a:xfrm>
          <a:prstGeom prst="roundRect">
            <a:avLst>
              <a:gd name="adj" fmla="val 20290"/>
            </a:avLst>
          </a:prstGeom>
          <a:solidFill>
            <a:srgbClr val="F1F2E4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53809" y="5355723"/>
            <a:ext cx="7281333" cy="500722"/>
          </a:xfrm>
          <a:prstGeom prst="rect">
            <a:avLst/>
          </a:prstGeom>
          <a:noFill/>
        </p:spPr>
        <p:txBody>
          <a:bodyPr wrap="square" lIns="135466" rIns="135466" tIns="101600" bIns="101600">
            <a:spAutoFit/>
          </a:bodyPr>
          <a:lstStyle/>
          <a:p>
            <a:pPr>
              <a:lnSpc>
                <a:spcPct val="160000"/>
              </a:lnSpc>
            </a:pPr>
            <a:r>
              <a:rPr sz="1010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rPr>
              <a:t>两种规划深度：自动</a:t>
            </a:r>
            <a:r>
              <a:rPr sz="101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 快速出稿（3-6 分钟）；</a:t>
            </a:r>
            <a:r>
              <a:rPr sz="1010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rPr>
              <a:t>精修</a:t>
            </a:r>
            <a:r>
              <a:rPr sz="101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 深度规划 + 自动 Review（8-15 分钟）。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09 / 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2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61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79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7981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166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352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537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722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90809" y="7362952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95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9FF"/>
            </a:gs>
            <a:gs pos="100000">
              <a:srgbClr val="E0F2F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81196" y="2503965"/>
            <a:ext cx="4226560" cy="42265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3120" b="1">
                <a:latin typeface="Microsoft YaHei"/>
                <a:ea typeface="Microsoft YaHei"/>
                <a:cs typeface="Microsoft YaHei"/>
              </a:rPr>
              <a:t>演示用幻灯片，报告用滚动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944619" y="3045155"/>
            <a:ext cx="474133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944619" y="3189088"/>
            <a:ext cx="4299712" cy="914400"/>
          </a:xfrm>
          <a:prstGeom prst="roundRect">
            <a:avLst>
              <a:gd name="adj" fmla="val 11111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50766" y="4222360"/>
            <a:ext cx="3887419" cy="2418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70000"/>
              </a:lnSpc>
            </a:pP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slide-creator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 做逐页演示，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report-creator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 做长篇幅报告。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4619" y="4599635"/>
            <a:ext cx="4299712" cy="19940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 xml:space="preserve">          两者互补，共享同样的设计纪律和工程标准。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44619" y="4917914"/>
            <a:ext cx="4299712" cy="195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80" b="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clawhub install kai-slide-creator</a:t>
            </a:r>
          </a:p>
          <a:p>
            <a:pPr algn="ctr">
              <a:lnSpc>
                <a:spcPct val="160000"/>
              </a:lnSpc>
            </a:pPr>
            <a:r>
              <a:rPr sz="10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 xml:space="preserve">         · </a:t>
            </a:r>
          </a:p>
          <a:p>
            <a:pPr algn="ctr">
              <a:lnSpc>
                <a:spcPct val="160000"/>
              </a:lnSpc>
            </a:pPr>
            <a:r>
              <a:rPr sz="10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 xml:space="preserve">        </a:t>
            </a:r>
            <a:r>
              <a:rPr sz="108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GitHub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10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2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61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79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981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166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2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537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2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908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09342" y="7362952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